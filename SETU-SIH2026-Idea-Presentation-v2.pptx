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sz="2300" b="1">
                <a:solidFill>
                  <a:srgbClr val="14375F"/>
                </a:solidFill>
                <a:latin typeface="Times New Roman"/>
              </a:rPr>
              <a:t>SETU · INTELLIGENT DEAD RECKONING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84048" y="1920240"/>
            <a:ext cx="6126480" cy="420624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>
                <a:solidFill>
                  <a:srgbClr val="14375F"/>
                </a:solidFill>
                <a:latin typeface="Arial"/>
              </a:rPr>
              <a:t>Problem Statement ID –  </a:t>
            </a:r>
            <a:r>
              <a:rPr sz="1900" b="0">
                <a:solidFill>
                  <a:srgbClr val="9AA9B2"/>
                </a:solidFill>
                <a:latin typeface="Arial"/>
              </a:rPr>
              <a:t>____________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>
                <a:solidFill>
                  <a:srgbClr val="14375F"/>
                </a:solidFill>
                <a:latin typeface="Arial"/>
              </a:rPr>
              <a:t>Problem Statement Title-  </a:t>
            </a:r>
            <a:r>
              <a:rPr sz="1900" b="0">
                <a:solidFill>
                  <a:srgbClr val="14212B"/>
                </a:solidFill>
                <a:latin typeface="Arial"/>
              </a:rPr>
              <a:t>AI-ML based Intelligent Dead Reckoning system for seamless navigation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>
                <a:solidFill>
                  <a:srgbClr val="14375F"/>
                </a:solidFill>
                <a:latin typeface="Arial"/>
              </a:rPr>
              <a:t>Theme-  </a:t>
            </a:r>
            <a:r>
              <a:rPr sz="1900" b="0">
                <a:solidFill>
                  <a:srgbClr val="9AA9B2"/>
                </a:solidFill>
                <a:latin typeface="Arial"/>
              </a:rPr>
              <a:t>____________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>
                <a:solidFill>
                  <a:srgbClr val="14375F"/>
                </a:solidFill>
                <a:latin typeface="Arial"/>
              </a:rPr>
              <a:t>PS Category-  </a:t>
            </a:r>
            <a:r>
              <a:rPr sz="1900" b="0">
                <a:solidFill>
                  <a:srgbClr val="14212B"/>
                </a:solidFill>
                <a:latin typeface="Arial"/>
              </a:rPr>
              <a:t>Software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>
                <a:solidFill>
                  <a:srgbClr val="14375F"/>
                </a:solidFill>
                <a:latin typeface="Arial"/>
              </a:rPr>
              <a:t>Team ID-  </a:t>
            </a:r>
            <a:r>
              <a:rPr sz="1900" b="0">
                <a:solidFill>
                  <a:srgbClr val="9AA9B2"/>
                </a:solidFill>
                <a:latin typeface="Arial"/>
              </a:rPr>
              <a:t>____________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>
                <a:solidFill>
                  <a:srgbClr val="14375F"/>
                </a:solidFill>
                <a:latin typeface="Arial"/>
              </a:rPr>
              <a:t>Team Name (Registered on portal)-  </a:t>
            </a:r>
            <a:r>
              <a:rPr sz="1900" b="0">
                <a:solidFill>
                  <a:srgbClr val="14212B"/>
                </a:solidFill>
                <a:latin typeface="Arial"/>
              </a:rPr>
              <a:t>Sanskari&lt;CODERS&gt;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10528" y="5120640"/>
            <a:ext cx="5294376" cy="1152144"/>
          </a:xfrm>
          <a:prstGeom prst="rect">
            <a:avLst/>
          </a:prstGeom>
          <a:solidFill>
            <a:srgbClr val="FFFFFF"/>
          </a:solidFill>
          <a:ln w="15875">
            <a:solidFill>
              <a:srgbClr val="143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5175503"/>
            <a:ext cx="3721608" cy="1042416"/>
          </a:xfrm>
          <a:prstGeom prst="rect">
            <a:avLst/>
          </a:prstGeom>
          <a:noFill/>
        </p:spPr>
        <p:txBody>
          <a:bodyPr wrap="square" lIns="109728" rIns="109728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14375F"/>
                </a:solidFill>
                <a:latin typeface="Arial"/>
              </a:rPr>
              <a:t>Seamless Egomotion Tracking under Unavailable-GNSS</a:t>
            </a:r>
          </a:p>
          <a:p>
            <a:pPr>
              <a:lnSpc>
                <a:spcPct val="105000"/>
              </a:lnSpc>
            </a:pPr>
            <a:r>
              <a:rPr sz="960" b="0">
                <a:solidFill>
                  <a:srgbClr val="14212B"/>
                </a:solidFill>
                <a:latin typeface="Arial"/>
              </a:rPr>
              <a:t>Lane-level position through tunnels, underpasses, basement parking and urban canyons — from a smartphone IMU alone.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213848" y="5266944"/>
            <a:ext cx="0" cy="859535"/>
          </a:xfrm>
          <a:prstGeom prst="line">
            <a:avLst/>
          </a:prstGeom>
          <a:ln w="12700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250424" y="5175503"/>
            <a:ext cx="1481328" cy="10424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2800" b="1">
                <a:solidFill>
                  <a:srgbClr val="1B8A4C"/>
                </a:solidFill>
                <a:latin typeface="Arial"/>
              </a:rPr>
              <a:t>≈1%</a:t>
            </a:r>
          </a:p>
          <a:p>
            <a:pPr algn="ctr">
              <a:lnSpc>
                <a:spcPct val="104000"/>
              </a:lnSpc>
            </a:pPr>
            <a:r>
              <a:rPr sz="860" b="0">
                <a:solidFill>
                  <a:srgbClr val="5B6E78"/>
                </a:solidFill>
                <a:latin typeface="Arial"/>
              </a:rPr>
              <a:t>drift per km, against
a 10 % ceiling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C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355080"/>
            <a:ext cx="11457432" cy="50292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D6E3EC"/>
                </a:solidFill>
                <a:latin typeface="Arial"/>
              </a:rPr>
              <a:t>TEAM  </a:t>
            </a:r>
            <a:r>
              <a:rPr sz="1200" b="1">
                <a:solidFill>
                  <a:srgbClr val="FFFFFF"/>
                </a:solidFill>
                <a:latin typeface="Arial"/>
              </a:rPr>
              <a:t>Sanskari&lt;CODERS&gt;</a:t>
            </a:r>
            <a:r>
              <a:rPr sz="1100" b="0">
                <a:solidFill>
                  <a:srgbClr val="FFFFFF"/>
                </a:solidFill>
                <a:latin typeface="Arial"/>
              </a:rPr>
              <a:t>      </a:t>
            </a:r>
            <a:r>
              <a:rPr sz="1050" b="1">
                <a:solidFill>
                  <a:srgbClr val="FFFFFF"/>
                </a:solidFill>
                <a:latin typeface="Arial"/>
              </a:rPr>
              <a:t>Lakshya Jain</a:t>
            </a:r>
            <a:r>
              <a:rPr sz="1050" b="0">
                <a:solidFill>
                  <a:srgbClr val="D6E3EC"/>
                </a:solidFill>
                <a:latin typeface="Arial"/>
              </a:rPr>
              <a:t> (Team Leader)</a:t>
            </a:r>
            <a:r>
              <a:rPr sz="1050" b="0">
                <a:solidFill>
                  <a:srgbClr val="D6E3EC"/>
                </a:solidFill>
                <a:latin typeface="Arial"/>
              </a:rPr>
              <a:t>  ·  </a:t>
            </a:r>
            <a:r>
              <a:rPr sz="1050" b="1">
                <a:solidFill>
                  <a:srgbClr val="FFFFFF"/>
                </a:solidFill>
                <a:latin typeface="Arial"/>
              </a:rPr>
              <a:t>Akshit Jain</a:t>
            </a:r>
            <a:r>
              <a:rPr sz="1050" b="0">
                <a:solidFill>
                  <a:srgbClr val="D6E3EC"/>
                </a:solidFill>
                <a:latin typeface="Arial"/>
              </a:rPr>
              <a:t>  ·  </a:t>
            </a:r>
            <a:r>
              <a:rPr sz="1050" b="1">
                <a:solidFill>
                  <a:srgbClr val="FFFFFF"/>
                </a:solidFill>
                <a:latin typeface="Arial"/>
              </a:rPr>
              <a:t>Veneya Kharkhodi</a:t>
            </a:r>
            <a:r>
              <a:rPr sz="1050" b="0">
                <a:solidFill>
                  <a:srgbClr val="D6E3EC"/>
                </a:solidFill>
                <a:latin typeface="Arial"/>
              </a:rPr>
              <a:t>  ·  </a:t>
            </a:r>
            <a:r>
              <a:rPr sz="1050" b="1">
                <a:solidFill>
                  <a:srgbClr val="FFFFFF"/>
                </a:solidFill>
                <a:latin typeface="Arial"/>
              </a:rPr>
              <a:t>Garv Goel</a:t>
            </a:r>
            <a:r>
              <a:rPr sz="1050" b="0">
                <a:solidFill>
                  <a:srgbClr val="D6E3EC"/>
                </a:solidFill>
                <a:latin typeface="Arial"/>
              </a:rPr>
              <a:t>  ·  </a:t>
            </a:r>
            <a:r>
              <a:rPr sz="1050" b="1">
                <a:solidFill>
                  <a:srgbClr val="FFFFFF"/>
                </a:solidFill>
                <a:latin typeface="Arial"/>
              </a:rPr>
              <a:t>Lavish Kumar</a:t>
            </a:r>
            <a:r>
              <a:rPr sz="1050" b="0">
                <a:solidFill>
                  <a:srgbClr val="D6E3EC"/>
                </a:solidFill>
                <a:latin typeface="Arial"/>
              </a:rPr>
              <a:t>  ·  </a:t>
            </a:r>
            <a:r>
              <a:rPr sz="1050" b="1">
                <a:solidFill>
                  <a:srgbClr val="FFFFFF"/>
                </a:solidFill>
                <a:latin typeface="Arial"/>
              </a:rPr>
              <a:t>Aashi Jain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SETU — NAVIGATION WITHOUT GNSS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14375F"/>
                </a:solidFill>
                <a:latin typeface="Arial"/>
              </a:rPr>
              <a:t>Sanskari</a:t>
            </a:r>
            <a:endParaRPr lang="en-IN" dirty="0"/>
          </a:p>
          <a:p>
            <a:pPr algn="ctr">
              <a:lnSpc>
                <a:spcPct val="92000"/>
              </a:lnSpc>
            </a:pPr>
            <a:r>
              <a:rPr sz="1000" b="1">
                <a:solidFill>
                  <a:srgbClr val="0C6DB5"/>
                </a:solidFill>
                <a:latin typeface="Consolas"/>
              </a:rPr>
              <a:t>&lt;CODERS&gt;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84048" y="1188720"/>
            <a:ext cx="11420856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106000"/>
              </a:lnSpc>
            </a:pPr>
            <a:r>
              <a:rPr sz="1900" b="1">
                <a:solidFill>
                  <a:srgbClr val="14375F"/>
                </a:solidFill>
                <a:latin typeface="Arial"/>
              </a:rPr>
              <a:t>Everyone integrates acceleration twice, so error grows as t². </a:t>
            </a:r>
            <a:r>
              <a:rPr sz="1900" b="0">
                <a:solidFill>
                  <a:srgbClr val="14212B"/>
                </a:solidFill>
                <a:latin typeface="Arial"/>
              </a:rPr>
              <a:t>SETU asks how far along this road am I — and answers with measurements that never accumulate.</a:t>
            </a:r>
          </a:p>
        </p:txBody>
      </p:sp>
      <p:cxnSp>
        <p:nvCxnSpPr>
          <p:cNvPr id="15363" name="Connector 15362"/>
          <p:cNvCxnSpPr/>
          <p:nvPr/>
        </p:nvCxnSpPr>
        <p:spPr>
          <a:xfrm>
            <a:off x="384048" y="1828800"/>
            <a:ext cx="11420856" cy="0"/>
          </a:xfrm>
          <a:prstGeom prst="line">
            <a:avLst/>
          </a:prstGeom>
          <a:ln w="12700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4" name="TextBox 15363"/>
          <p:cNvSpPr txBox="1"/>
          <p:nvPr/>
        </p:nvSpPr>
        <p:spPr>
          <a:xfrm>
            <a:off x="384048" y="1920240"/>
            <a:ext cx="42062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250" b="1">
                <a:solidFill>
                  <a:srgbClr val="14375F"/>
                </a:solidFill>
                <a:latin typeface="Arial"/>
              </a:rPr>
              <a:t>Detailed explanation of the proposed solution</a:t>
            </a:r>
          </a:p>
        </p:txBody>
      </p:sp>
      <p:cxnSp>
        <p:nvCxnSpPr>
          <p:cNvPr id="15365" name="Connector 15364"/>
          <p:cNvCxnSpPr/>
          <p:nvPr/>
        </p:nvCxnSpPr>
        <p:spPr>
          <a:xfrm>
            <a:off x="384048" y="2185416"/>
            <a:ext cx="4206240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66" name="Connector 15365"/>
          <p:cNvCxnSpPr/>
          <p:nvPr/>
        </p:nvCxnSpPr>
        <p:spPr>
          <a:xfrm>
            <a:off x="667512" y="2441448"/>
            <a:ext cx="0" cy="2112264"/>
          </a:xfrm>
          <a:prstGeom prst="line">
            <a:avLst/>
          </a:prstGeom>
          <a:ln w="13970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7" name="Rectangle 15366"/>
          <p:cNvSpPr/>
          <p:nvPr/>
        </p:nvSpPr>
        <p:spPr>
          <a:xfrm>
            <a:off x="384048" y="2304288"/>
            <a:ext cx="566928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0C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384048" y="2304288"/>
            <a:ext cx="566928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960" b="1">
                <a:solidFill>
                  <a:srgbClr val="0C6DB5"/>
                </a:solidFill>
                <a:latin typeface="Arial"/>
              </a:rPr>
              <a:t>ACE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1024127" y="2304288"/>
            <a:ext cx="356615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40" b="0">
                <a:solidFill>
                  <a:srgbClr val="14212B"/>
                </a:solidFill>
                <a:latin typeface="Arial"/>
              </a:rPr>
              <a:t>solves the phone→vehicle mount, online</a:t>
            </a:r>
          </a:p>
        </p:txBody>
      </p:sp>
      <p:sp>
        <p:nvSpPr>
          <p:cNvPr id="15370" name="Rectangle 15369"/>
          <p:cNvSpPr/>
          <p:nvPr/>
        </p:nvSpPr>
        <p:spPr>
          <a:xfrm>
            <a:off x="384048" y="2606040"/>
            <a:ext cx="566928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0C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384048" y="2606040"/>
            <a:ext cx="566928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960" b="1">
                <a:solidFill>
                  <a:srgbClr val="0C6DB5"/>
                </a:solidFill>
                <a:latin typeface="Arial"/>
              </a:rPr>
              <a:t>MSVR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1024127" y="2606040"/>
            <a:ext cx="356615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40" b="0">
                <a:solidFill>
                  <a:srgbClr val="14212B"/>
                </a:solidFill>
                <a:latin typeface="Arial"/>
              </a:rPr>
              <a:t>classifies motion, mount and road shock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384048" y="2907792"/>
            <a:ext cx="566928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1B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4" name="TextBox 15373"/>
          <p:cNvSpPr txBox="1"/>
          <p:nvPr/>
        </p:nvSpPr>
        <p:spPr>
          <a:xfrm>
            <a:off x="384048" y="2907792"/>
            <a:ext cx="566928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960" b="1">
                <a:solidFill>
                  <a:srgbClr val="1B8A4C"/>
                </a:solidFill>
                <a:latin typeface="Arial"/>
              </a:rPr>
              <a:t>SVO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1024127" y="2907792"/>
            <a:ext cx="356615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40" b="0">
                <a:solidFill>
                  <a:srgbClr val="14212B"/>
                </a:solidFill>
                <a:latin typeface="Arial"/>
              </a:rPr>
              <a:t>ground speed from axle harmonics</a:t>
            </a:r>
          </a:p>
        </p:txBody>
      </p:sp>
      <p:sp>
        <p:nvSpPr>
          <p:cNvPr id="15376" name="Rectangle 15375"/>
          <p:cNvSpPr/>
          <p:nvPr/>
        </p:nvSpPr>
        <p:spPr>
          <a:xfrm>
            <a:off x="384048" y="3209544"/>
            <a:ext cx="566928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1B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384048" y="3209544"/>
            <a:ext cx="566928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960" b="1">
                <a:solidFill>
                  <a:srgbClr val="1B8A4C"/>
                </a:solidFill>
                <a:latin typeface="Arial"/>
              </a:rPr>
              <a:t>CTS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1024127" y="3209544"/>
            <a:ext cx="356615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40" b="0">
                <a:solidFill>
                  <a:srgbClr val="14212B"/>
                </a:solidFill>
                <a:latin typeface="Arial"/>
              </a:rPr>
              <a:t>absolute speed out of every turn</a:t>
            </a:r>
          </a:p>
        </p:txBody>
      </p:sp>
      <p:sp>
        <p:nvSpPr>
          <p:cNvPr id="15379" name="Rectangle 15378"/>
          <p:cNvSpPr/>
          <p:nvPr/>
        </p:nvSpPr>
        <p:spPr>
          <a:xfrm>
            <a:off x="384048" y="3511296"/>
            <a:ext cx="566928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7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0" name="TextBox 15379"/>
          <p:cNvSpPr txBox="1"/>
          <p:nvPr/>
        </p:nvSpPr>
        <p:spPr>
          <a:xfrm>
            <a:off x="384048" y="3511296"/>
            <a:ext cx="566928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960" b="1">
                <a:solidFill>
                  <a:srgbClr val="E8761F"/>
                </a:solidFill>
                <a:latin typeface="Arial"/>
              </a:rPr>
              <a:t>CSA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1024127" y="3511296"/>
            <a:ext cx="356615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40" b="0">
                <a:solidFill>
                  <a:srgbClr val="14212B"/>
                </a:solidFill>
                <a:latin typeface="Arial"/>
              </a:rPr>
              <a:t>arc length from the map's own shape</a:t>
            </a:r>
          </a:p>
        </p:txBody>
      </p:sp>
      <p:sp>
        <p:nvSpPr>
          <p:cNvPr id="15382" name="Rectangle 15381"/>
          <p:cNvSpPr/>
          <p:nvPr/>
        </p:nvSpPr>
        <p:spPr>
          <a:xfrm>
            <a:off x="384048" y="3813048"/>
            <a:ext cx="566928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E87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3" name="TextBox 15382"/>
          <p:cNvSpPr txBox="1"/>
          <p:nvPr/>
        </p:nvSpPr>
        <p:spPr>
          <a:xfrm>
            <a:off x="384048" y="3813048"/>
            <a:ext cx="566928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960" b="1">
                <a:solidFill>
                  <a:srgbClr val="E8761F"/>
                </a:solidFill>
                <a:latin typeface="Arial"/>
              </a:rPr>
              <a:t>EFA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1024127" y="3813048"/>
            <a:ext cx="356615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40" b="0">
                <a:solidFill>
                  <a:srgbClr val="14212B"/>
                </a:solidFill>
                <a:latin typeface="Arial"/>
              </a:rPr>
              <a:t>magnetic, baro and radio anchors</a:t>
            </a:r>
          </a:p>
        </p:txBody>
      </p:sp>
      <p:sp>
        <p:nvSpPr>
          <p:cNvPr id="15385" name="Rectangle 15384"/>
          <p:cNvSpPr/>
          <p:nvPr/>
        </p:nvSpPr>
        <p:spPr>
          <a:xfrm>
            <a:off x="384048" y="4114800"/>
            <a:ext cx="566928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143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6" name="TextBox 15385"/>
          <p:cNvSpPr txBox="1"/>
          <p:nvPr/>
        </p:nvSpPr>
        <p:spPr>
          <a:xfrm>
            <a:off x="384048" y="4114800"/>
            <a:ext cx="566928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960" b="1">
                <a:solidFill>
                  <a:srgbClr val="14375F"/>
                </a:solidFill>
                <a:latin typeface="Arial"/>
              </a:rPr>
              <a:t>IAF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1024127" y="4114800"/>
            <a:ext cx="356615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40" b="0">
                <a:solidFill>
                  <a:srgbClr val="14212B"/>
                </a:solidFill>
                <a:latin typeface="Arial"/>
              </a:rPr>
              <a:t>invariant EKF in a road-graph filter</a:t>
            </a:r>
          </a:p>
        </p:txBody>
      </p:sp>
      <p:sp>
        <p:nvSpPr>
          <p:cNvPr id="15388" name="Rectangle 15387"/>
          <p:cNvSpPr/>
          <p:nvPr/>
        </p:nvSpPr>
        <p:spPr>
          <a:xfrm>
            <a:off x="384048" y="4416552"/>
            <a:ext cx="566928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143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384048" y="4416552"/>
            <a:ext cx="566928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960" b="1">
                <a:solidFill>
                  <a:srgbClr val="14375F"/>
                </a:solidFill>
                <a:latin typeface="Arial"/>
              </a:rPr>
              <a:t>GQM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1024127" y="4416552"/>
            <a:ext cx="356615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40" b="0">
                <a:solidFill>
                  <a:srgbClr val="14212B"/>
                </a:solidFill>
                <a:latin typeface="Arial"/>
              </a:rPr>
              <a:t>per-satellite GNSS trust, not a switch</a:t>
            </a:r>
          </a:p>
        </p:txBody>
      </p:sp>
      <p:sp>
        <p:nvSpPr>
          <p:cNvPr id="15391" name="Rectangle 15390"/>
          <p:cNvSpPr/>
          <p:nvPr/>
        </p:nvSpPr>
        <p:spPr>
          <a:xfrm>
            <a:off x="384048" y="4828032"/>
            <a:ext cx="4206240" cy="457200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92" name="TextBox 15391"/>
          <p:cNvSpPr txBox="1"/>
          <p:nvPr/>
        </p:nvSpPr>
        <p:spPr>
          <a:xfrm>
            <a:off x="384048" y="4828032"/>
            <a:ext cx="4206240" cy="457200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375F"/>
                </a:solidFill>
                <a:latin typeface="Consolas"/>
              </a:rPr>
              <a:t>3.6 MB</a:t>
            </a:r>
            <a:r>
              <a:rPr sz="900" b="0">
                <a:solidFill>
                  <a:srgbClr val="5B6E78"/>
                </a:solidFill>
                <a:latin typeface="Arial"/>
              </a:rPr>
              <a:t>  models    </a:t>
            </a:r>
            <a:r>
              <a:rPr sz="1100" b="1">
                <a:solidFill>
                  <a:srgbClr val="14375F"/>
                </a:solidFill>
                <a:latin typeface="Consolas"/>
              </a:rPr>
              <a:t>2.7 ms</a:t>
            </a:r>
            <a:r>
              <a:rPr sz="900" b="0">
                <a:solidFill>
                  <a:srgbClr val="5B6E78"/>
                </a:solidFill>
                <a:latin typeface="Arial"/>
              </a:rPr>
              <a:t>  per tick    </a:t>
            </a:r>
            <a:r>
              <a:rPr sz="1100" b="1">
                <a:solidFill>
                  <a:srgbClr val="14375F"/>
                </a:solidFill>
                <a:latin typeface="Consolas"/>
              </a:rPr>
              <a:t>10 Hz</a:t>
            </a:r>
            <a:r>
              <a:rPr sz="900" b="0">
                <a:solidFill>
                  <a:srgbClr val="5B6E78"/>
                </a:solidFill>
                <a:latin typeface="Arial"/>
              </a:rPr>
              <a:t>  phone    </a:t>
            </a:r>
            <a:r>
              <a:rPr sz="1100" b="1">
                <a:solidFill>
                  <a:srgbClr val="14375F"/>
                </a:solidFill>
                <a:latin typeface="Consolas"/>
              </a:rPr>
              <a:t>200 Hz</a:t>
            </a:r>
            <a:r>
              <a:rPr sz="900" b="0">
                <a:solidFill>
                  <a:srgbClr val="5B6E78"/>
                </a:solidFill>
                <a:latin typeface="Arial"/>
              </a:rPr>
              <a:t>  edge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4809744" y="1920240"/>
            <a:ext cx="699516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250" b="1">
                <a:solidFill>
                  <a:srgbClr val="14375F"/>
                </a:solidFill>
                <a:latin typeface="Arial"/>
              </a:rPr>
              <a:t>How it addresses the problem</a:t>
            </a:r>
          </a:p>
        </p:txBody>
      </p:sp>
      <p:cxnSp>
        <p:nvCxnSpPr>
          <p:cNvPr id="15394" name="Connector 15393"/>
          <p:cNvCxnSpPr/>
          <p:nvPr/>
        </p:nvCxnSpPr>
        <p:spPr>
          <a:xfrm>
            <a:off x="4809744" y="2185416"/>
            <a:ext cx="6995160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395" name="Picture 15394" descr="fig-error-law-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2304288"/>
            <a:ext cx="6995160" cy="2804710"/>
          </a:xfrm>
          <a:prstGeom prst="rect">
            <a:avLst/>
          </a:prstGeom>
        </p:spPr>
      </p:pic>
      <p:sp>
        <p:nvSpPr>
          <p:cNvPr id="15396" name="TextBox 15395"/>
          <p:cNvSpPr txBox="1"/>
          <p:nvPr/>
        </p:nvSpPr>
        <p:spPr>
          <a:xfrm>
            <a:off x="4809744" y="5145574"/>
            <a:ext cx="699516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E78"/>
                </a:solidFill>
                <a:latin typeface="Arial"/>
              </a:rPr>
              <a:t>Integration is demoted to interpolating between fixes. Every anchor crossed resets the error, so drift is bounded by anchor spacing, not by elapsed time.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384048" y="5413248"/>
            <a:ext cx="1142085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250" b="1">
                <a:solidFill>
                  <a:srgbClr val="14375F"/>
                </a:solidFill>
                <a:latin typeface="Arial"/>
              </a:rPr>
              <a:t>Innovation and uniqueness of the solution</a:t>
            </a:r>
          </a:p>
        </p:txBody>
      </p:sp>
      <p:cxnSp>
        <p:nvCxnSpPr>
          <p:cNvPr id="15398" name="Connector 15397"/>
          <p:cNvCxnSpPr/>
          <p:nvPr/>
        </p:nvCxnSpPr>
        <p:spPr>
          <a:xfrm>
            <a:off x="384048" y="5678424"/>
            <a:ext cx="11420856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9" name="Rectangle 15398"/>
          <p:cNvSpPr/>
          <p:nvPr/>
        </p:nvSpPr>
        <p:spPr>
          <a:xfrm>
            <a:off x="384048" y="5724144"/>
            <a:ext cx="2196388" cy="512064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00" name="TextBox 15399"/>
          <p:cNvSpPr txBox="1"/>
          <p:nvPr/>
        </p:nvSpPr>
        <p:spPr>
          <a:xfrm>
            <a:off x="384048" y="5742432"/>
            <a:ext cx="2196388" cy="475488"/>
          </a:xfrm>
          <a:prstGeom prst="rect">
            <a:avLst/>
          </a:prstGeom>
          <a:noFill/>
        </p:spPr>
        <p:txBody>
          <a:bodyPr wrap="square" lIns="82296" rIns="82296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60" b="1">
                <a:solidFill>
                  <a:srgbClr val="1B8A4C"/>
                </a:solidFill>
                <a:latin typeface="Arial"/>
              </a:rPr>
              <a:t>N1  </a:t>
            </a:r>
            <a:r>
              <a:rPr sz="960" b="1">
                <a:solidFill>
                  <a:srgbClr val="14212B"/>
                </a:solidFill>
                <a:latin typeface="Arial"/>
              </a:rPr>
              <a:t>Speed from frequency</a:t>
            </a:r>
          </a:p>
          <a:p>
            <a:pPr>
              <a:lnSpc>
                <a:spcPct val="100000"/>
              </a:lnSpc>
            </a:pPr>
            <a:r>
              <a:rPr sz="840" b="0">
                <a:solidFill>
                  <a:srgbClr val="5B6E78"/>
                </a:solidFill>
                <a:latin typeface="Arial"/>
              </a:rPr>
              <a:t>not integration — nothing accumulates</a:t>
            </a:r>
          </a:p>
        </p:txBody>
      </p:sp>
      <p:sp>
        <p:nvSpPr>
          <p:cNvPr id="15401" name="Rectangle 15400"/>
          <p:cNvSpPr/>
          <p:nvPr/>
        </p:nvSpPr>
        <p:spPr>
          <a:xfrm>
            <a:off x="2690164" y="5724144"/>
            <a:ext cx="2196388" cy="512064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02" name="TextBox 15401"/>
          <p:cNvSpPr txBox="1"/>
          <p:nvPr/>
        </p:nvSpPr>
        <p:spPr>
          <a:xfrm>
            <a:off x="2690164" y="5742432"/>
            <a:ext cx="2196388" cy="475488"/>
          </a:xfrm>
          <a:prstGeom prst="rect">
            <a:avLst/>
          </a:prstGeom>
          <a:noFill/>
        </p:spPr>
        <p:txBody>
          <a:bodyPr wrap="square" lIns="82296" rIns="82296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60" b="1">
                <a:solidFill>
                  <a:srgbClr val="E8761F"/>
                </a:solidFill>
                <a:latin typeface="Arial"/>
              </a:rPr>
              <a:t>N2  </a:t>
            </a:r>
            <a:r>
              <a:rPr sz="960" b="1">
                <a:solidFill>
                  <a:srgbClr val="14212B"/>
                </a:solidFill>
                <a:latin typeface="Arial"/>
              </a:rPr>
              <a:t>Two-wheeler lean physics</a:t>
            </a:r>
          </a:p>
          <a:p>
            <a:pPr>
              <a:lnSpc>
                <a:spcPct val="100000"/>
              </a:lnSpc>
            </a:pPr>
            <a:r>
              <a:rPr sz="840" b="0">
                <a:solidFill>
                  <a:srgbClr val="5B6E78"/>
                </a:solidFill>
                <a:latin typeface="Arial"/>
              </a:rPr>
              <a:t>v = g·sinφ / ωz; omitting cosφ costs 4 %</a:t>
            </a:r>
          </a:p>
        </p:txBody>
      </p:sp>
      <p:sp>
        <p:nvSpPr>
          <p:cNvPr id="15403" name="Rectangle 15402"/>
          <p:cNvSpPr/>
          <p:nvPr/>
        </p:nvSpPr>
        <p:spPr>
          <a:xfrm>
            <a:off x="4996281" y="5724144"/>
            <a:ext cx="2196388" cy="512064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04" name="TextBox 15403"/>
          <p:cNvSpPr txBox="1"/>
          <p:nvPr/>
        </p:nvSpPr>
        <p:spPr>
          <a:xfrm>
            <a:off x="4996281" y="5742432"/>
            <a:ext cx="2196388" cy="475488"/>
          </a:xfrm>
          <a:prstGeom prst="rect">
            <a:avLst/>
          </a:prstGeom>
          <a:noFill/>
        </p:spPr>
        <p:txBody>
          <a:bodyPr wrap="square" lIns="82296" rIns="82296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60" b="1">
                <a:solidFill>
                  <a:srgbClr val="0C6DB5"/>
                </a:solidFill>
                <a:latin typeface="Arial"/>
              </a:rPr>
              <a:t>N3  </a:t>
            </a:r>
            <a:r>
              <a:rPr sz="960" b="1">
                <a:solidFill>
                  <a:srgbClr val="14212B"/>
                </a:solidFill>
                <a:latin typeface="Arial"/>
              </a:rPr>
              <a:t>Scale-free map registration</a:t>
            </a:r>
          </a:p>
          <a:p>
            <a:pPr>
              <a:lnSpc>
                <a:spcPct val="100000"/>
              </a:lnSpc>
            </a:pPr>
            <a:r>
              <a:rPr sz="840" b="0">
                <a:solidFill>
                  <a:srgbClr val="5B6E78"/>
                </a:solidFill>
                <a:latin typeface="Arial"/>
              </a:rPr>
              <a:t>prior shape-matching needs an odometer</a:t>
            </a:r>
          </a:p>
        </p:txBody>
      </p:sp>
      <p:sp>
        <p:nvSpPr>
          <p:cNvPr id="15405" name="Rectangle 15404"/>
          <p:cNvSpPr/>
          <p:nvPr/>
        </p:nvSpPr>
        <p:spPr>
          <a:xfrm>
            <a:off x="7302398" y="5724144"/>
            <a:ext cx="2196388" cy="512064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06" name="TextBox 15405"/>
          <p:cNvSpPr txBox="1"/>
          <p:nvPr/>
        </p:nvSpPr>
        <p:spPr>
          <a:xfrm>
            <a:off x="7302398" y="5742432"/>
            <a:ext cx="2196388" cy="475488"/>
          </a:xfrm>
          <a:prstGeom prst="rect">
            <a:avLst/>
          </a:prstGeom>
          <a:noFill/>
        </p:spPr>
        <p:txBody>
          <a:bodyPr wrap="square" lIns="82296" rIns="82296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60" b="1">
                <a:solidFill>
                  <a:srgbClr val="14375F"/>
                </a:solidFill>
                <a:latin typeface="Arial"/>
              </a:rPr>
              <a:t>N4  </a:t>
            </a:r>
            <a:r>
              <a:rPr sz="960" b="1">
                <a:solidFill>
                  <a:srgbClr val="14212B"/>
                </a:solidFill>
                <a:latin typeface="Arial"/>
              </a:rPr>
              <a:t>CAN wheel speeds as teacher</a:t>
            </a:r>
          </a:p>
          <a:p>
            <a:pPr>
              <a:lnSpc>
                <a:spcPct val="100000"/>
              </a:lnSpc>
            </a:pPr>
            <a:r>
              <a:rPr sz="840" b="0">
                <a:solidFill>
                  <a:srgbClr val="5B6E78"/>
                </a:solidFill>
                <a:latin typeface="Arial"/>
              </a:rPr>
              <a:t>training-only; far better than GPS labels</a:t>
            </a:r>
          </a:p>
        </p:txBody>
      </p:sp>
      <p:sp>
        <p:nvSpPr>
          <p:cNvPr id="15407" name="Rectangle 15406"/>
          <p:cNvSpPr/>
          <p:nvPr/>
        </p:nvSpPr>
        <p:spPr>
          <a:xfrm>
            <a:off x="9608515" y="5724144"/>
            <a:ext cx="2196388" cy="512064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08" name="TextBox 15407"/>
          <p:cNvSpPr txBox="1"/>
          <p:nvPr/>
        </p:nvSpPr>
        <p:spPr>
          <a:xfrm>
            <a:off x="9608515" y="5742432"/>
            <a:ext cx="2196388" cy="475488"/>
          </a:xfrm>
          <a:prstGeom prst="rect">
            <a:avLst/>
          </a:prstGeom>
          <a:noFill/>
        </p:spPr>
        <p:txBody>
          <a:bodyPr wrap="square" lIns="82296" rIns="82296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60" b="1">
                <a:solidFill>
                  <a:srgbClr val="B3261E"/>
                </a:solidFill>
                <a:latin typeface="Arial"/>
              </a:rPr>
              <a:t>N5  </a:t>
            </a:r>
            <a:r>
              <a:rPr sz="960" b="1">
                <a:solidFill>
                  <a:srgbClr val="14212B"/>
                </a:solidFill>
                <a:latin typeface="Arial"/>
              </a:rPr>
              <a:t>Learned σ and Q in one filter</a:t>
            </a:r>
          </a:p>
          <a:p>
            <a:pPr>
              <a:lnSpc>
                <a:spcPct val="100000"/>
              </a:lnSpc>
            </a:pPr>
            <a:r>
              <a:rPr sz="840" b="0">
                <a:solidFill>
                  <a:srgbClr val="5B6E78"/>
                </a:solidFill>
                <a:latin typeface="Arial"/>
              </a:rPr>
              <a:t>multi-hypothesis over the road 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14375F"/>
                </a:solidFill>
                <a:latin typeface="Arial"/>
              </a:rPr>
              <a:t>Sanskari</a:t>
            </a:r>
            <a:endParaRPr lang="en-IN" dirty="0"/>
          </a:p>
          <a:p>
            <a:pPr algn="ctr">
              <a:lnSpc>
                <a:spcPct val="92000"/>
              </a:lnSpc>
            </a:pPr>
            <a:r>
              <a:rPr sz="1000" b="1">
                <a:solidFill>
                  <a:srgbClr val="0C6DB5"/>
                </a:solidFill>
                <a:latin typeface="Consolas"/>
              </a:rPr>
              <a:t>&lt;CODERS&gt;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70432"/>
            <a:ext cx="1142085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Methodology and process for implementation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384048" y="1435608"/>
            <a:ext cx="11420856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Rectangle 17411"/>
          <p:cNvSpPr/>
          <p:nvPr/>
        </p:nvSpPr>
        <p:spPr>
          <a:xfrm>
            <a:off x="384048" y="1554480"/>
            <a:ext cx="11420856" cy="1700784"/>
          </a:xfrm>
          <a:prstGeom prst="rect">
            <a:avLst/>
          </a:prstGeom>
          <a:solidFill>
            <a:srgbClr val="FAFCFD"/>
          </a:solidFill>
          <a:ln w="19050">
            <a:solidFill>
              <a:srgbClr val="143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84048" y="1554480"/>
            <a:ext cx="1060704" cy="1700784"/>
          </a:xfrm>
          <a:prstGeom prst="rect">
            <a:avLst/>
          </a:prstGeom>
          <a:noFill/>
        </p:spPr>
        <p:txBody>
          <a:bodyPr wrap="square" lIns="82296" rIns="82296" tIns="9144" bIns="9144" anchor="ctr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1050" b="1">
                <a:solidFill>
                  <a:srgbClr val="14375F"/>
                </a:solidFill>
                <a:latin typeface="Arial"/>
              </a:rPr>
              <a:t>CLIENT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1050" b="1">
                <a:solidFill>
                  <a:srgbClr val="14375F"/>
                </a:solidFill>
                <a:latin typeface="Arial"/>
              </a:rPr>
              <a:t>RUNTIME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800" b="1">
                <a:solidFill>
                  <a:srgbClr val="1B8A4C"/>
                </a:solidFill>
                <a:latin typeface="Arial"/>
              </a:rPr>
              <a:t>offline</a:t>
            </a:r>
          </a:p>
          <a:p>
            <a:pPr>
              <a:lnSpc>
                <a:spcPct val="95000"/>
              </a:lnSpc>
            </a:pPr>
            <a:r>
              <a:rPr sz="800" b="0">
                <a:solidFill>
                  <a:srgbClr val="5B6E78"/>
                </a:solidFill>
                <a:latin typeface="Arial"/>
              </a:rPr>
              <a:t>zero network calls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1444751" y="1627632"/>
            <a:ext cx="0" cy="1554480"/>
          </a:xfrm>
          <a:prstGeom prst="line">
            <a:avLst/>
          </a:prstGeom>
          <a:ln w="11430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Rectangle 17414"/>
          <p:cNvSpPr/>
          <p:nvPr/>
        </p:nvSpPr>
        <p:spPr>
          <a:xfrm>
            <a:off x="384048" y="3401568"/>
            <a:ext cx="11420856" cy="786384"/>
          </a:xfrm>
          <a:prstGeom prst="rect">
            <a:avLst/>
          </a:prstGeom>
          <a:solidFill>
            <a:srgbClr val="F3F7F9"/>
          </a:solidFill>
          <a:ln w="11430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384048" y="3401568"/>
            <a:ext cx="1060704" cy="786384"/>
          </a:xfrm>
          <a:prstGeom prst="rect">
            <a:avLst/>
          </a:prstGeom>
          <a:noFill/>
        </p:spPr>
        <p:txBody>
          <a:bodyPr wrap="square" lIns="82296" rIns="82296" tIns="9144" bIns="9144" anchor="ctr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1050" b="1">
                <a:solidFill>
                  <a:srgbClr val="14375F"/>
                </a:solidFill>
                <a:latin typeface="Arial"/>
              </a:rPr>
              <a:t>SYNC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1050" b="1">
                <a:solidFill>
                  <a:srgbClr val="14375F"/>
                </a:solidFill>
                <a:latin typeface="Arial"/>
              </a:rPr>
              <a:t>PLANE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800" b="1">
                <a:solidFill>
                  <a:srgbClr val="0C6DB5"/>
                </a:solidFill>
                <a:latin typeface="Arial"/>
              </a:rPr>
              <a:t>out-of-band</a:t>
            </a:r>
          </a:p>
          <a:p>
            <a:pPr>
              <a:lnSpc>
                <a:spcPct val="95000"/>
              </a:lnSpc>
            </a:pPr>
            <a:r>
              <a:rPr sz="800" b="0">
                <a:solidFill>
                  <a:srgbClr val="5B6E78"/>
                </a:solidFill>
                <a:latin typeface="Arial"/>
              </a:rPr>
              <a:t>async, never blocking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1444751" y="3474720"/>
            <a:ext cx="0" cy="640080"/>
          </a:xfrm>
          <a:prstGeom prst="line">
            <a:avLst/>
          </a:prstGeom>
          <a:ln w="11430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ectangle 17417"/>
          <p:cNvSpPr/>
          <p:nvPr/>
        </p:nvSpPr>
        <p:spPr>
          <a:xfrm>
            <a:off x="384048" y="4334256"/>
            <a:ext cx="11420856" cy="987552"/>
          </a:xfrm>
          <a:prstGeom prst="rect">
            <a:avLst/>
          </a:prstGeom>
          <a:solidFill>
            <a:srgbClr val="F3F7F9"/>
          </a:solidFill>
          <a:ln w="11430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384048" y="4334256"/>
            <a:ext cx="1060704" cy="987552"/>
          </a:xfrm>
          <a:prstGeom prst="rect">
            <a:avLst/>
          </a:prstGeom>
          <a:noFill/>
        </p:spPr>
        <p:txBody>
          <a:bodyPr wrap="square" lIns="82296" rIns="82296" tIns="9144" bIns="9144" anchor="ctr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1050" b="1">
                <a:solidFill>
                  <a:srgbClr val="14375F"/>
                </a:solidFill>
                <a:latin typeface="Arial"/>
              </a:rPr>
              <a:t>CLOUD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1050" b="1">
                <a:solidFill>
                  <a:srgbClr val="14375F"/>
                </a:solidFill>
                <a:latin typeface="Arial"/>
              </a:rPr>
              <a:t>PLANE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800" b="1">
                <a:solidFill>
                  <a:srgbClr val="5B6E78"/>
                </a:solidFill>
                <a:latin typeface="Arial"/>
              </a:rPr>
              <a:t>batch</a:t>
            </a:r>
          </a:p>
          <a:p>
            <a:pPr>
              <a:lnSpc>
                <a:spcPct val="95000"/>
              </a:lnSpc>
            </a:pPr>
            <a:r>
              <a:rPr sz="800" b="0">
                <a:solidFill>
                  <a:srgbClr val="5B6E78"/>
                </a:solidFill>
                <a:latin typeface="Arial"/>
              </a:rPr>
              <a:t>region-sharded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1444751" y="4407408"/>
            <a:ext cx="0" cy="841248"/>
          </a:xfrm>
          <a:prstGeom prst="line">
            <a:avLst/>
          </a:prstGeom>
          <a:ln w="11430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ectangle 17420"/>
          <p:cNvSpPr/>
          <p:nvPr/>
        </p:nvSpPr>
        <p:spPr>
          <a:xfrm>
            <a:off x="1536192" y="1609344"/>
            <a:ext cx="1554480" cy="219456"/>
          </a:xfrm>
          <a:prstGeom prst="rect">
            <a:avLst/>
          </a:prstGeom>
          <a:solidFill>
            <a:srgbClr val="14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1536192" y="1609344"/>
            <a:ext cx="155448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0" b="1">
                <a:solidFill>
                  <a:srgbClr val="FFFFFF"/>
                </a:solidFill>
                <a:latin typeface="Arial"/>
              </a:rPr>
              <a:t>SENSE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1536192" y="1865376"/>
            <a:ext cx="15544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1536192" y="1865376"/>
            <a:ext cx="1554480" cy="265176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IMU</a:t>
            </a:r>
            <a:r>
              <a:rPr sz="780" b="0">
                <a:solidFill>
                  <a:srgbClr val="5B6E78"/>
                </a:solidFill>
                <a:latin typeface="Arial"/>
              </a:rPr>
              <a:t>   200–400 Hz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1536192" y="2176272"/>
            <a:ext cx="15544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1536192" y="2176272"/>
            <a:ext cx="1554480" cy="265176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GNSS raw</a:t>
            </a:r>
            <a:r>
              <a:rPr sz="780" b="0">
                <a:solidFill>
                  <a:srgbClr val="5B6E78"/>
                </a:solidFill>
                <a:latin typeface="Arial"/>
              </a:rPr>
              <a:t>   NavIC L5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1536192" y="2487168"/>
            <a:ext cx="15544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1536192" y="2487168"/>
            <a:ext cx="1554480" cy="265176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Baro</a:t>
            </a:r>
            <a:r>
              <a:rPr sz="780" b="0">
                <a:solidFill>
                  <a:srgbClr val="5B6E78"/>
                </a:solidFill>
                <a:latin typeface="Arial"/>
              </a:rPr>
              <a:t>   Magnetometer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1536192" y="2798064"/>
            <a:ext cx="15544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1536192" y="2798064"/>
            <a:ext cx="1554480" cy="265176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External IMU</a:t>
            </a:r>
            <a:r>
              <a:rPr sz="780" b="0">
                <a:solidFill>
                  <a:srgbClr val="5B6E78"/>
                </a:solidFill>
                <a:latin typeface="Arial"/>
              </a:rPr>
              <a:t>   MEMS / FOG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3328416" y="1609344"/>
            <a:ext cx="1554480" cy="219456"/>
          </a:xfrm>
          <a:prstGeom prst="rect">
            <a:avLst/>
          </a:prstGeom>
          <a:solidFill>
            <a:srgbClr val="14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3328416" y="1609344"/>
            <a:ext cx="155448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0" b="1">
                <a:solidFill>
                  <a:srgbClr val="FFFFFF"/>
                </a:solidFill>
                <a:latin typeface="Arial"/>
              </a:rPr>
              <a:t>CONDITION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3328416" y="1865376"/>
            <a:ext cx="15544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3328416" y="1865376"/>
            <a:ext cx="1554480" cy="265176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STFT</a:t>
            </a:r>
            <a:r>
              <a:rPr sz="780" b="0">
                <a:solidFill>
                  <a:srgbClr val="5B6E78"/>
                </a:solidFill>
                <a:latin typeface="Arial"/>
              </a:rPr>
              <a:t>   harmonic ridge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3328416" y="2176272"/>
            <a:ext cx="15544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3328416" y="2176272"/>
            <a:ext cx="1554480" cy="265176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Notch</a:t>
            </a:r>
            <a:r>
              <a:rPr sz="780" b="0">
                <a:solidFill>
                  <a:srgbClr val="5B6E78"/>
                </a:solidFill>
                <a:latin typeface="Arial"/>
              </a:rPr>
              <a:t>   engine order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3328416" y="2487168"/>
            <a:ext cx="15544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3328416" y="2487168"/>
            <a:ext cx="1554480" cy="265176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Shock</a:t>
            </a:r>
            <a:r>
              <a:rPr sz="780" b="0">
                <a:solidFill>
                  <a:srgbClr val="5B6E78"/>
                </a:solidFill>
                <a:latin typeface="Arial"/>
              </a:rPr>
              <a:t>   pothole reject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3328416" y="2798064"/>
            <a:ext cx="15544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3328416" y="2798064"/>
            <a:ext cx="1554480" cy="265176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ACE</a:t>
            </a:r>
            <a:r>
              <a:rPr sz="780" b="0">
                <a:solidFill>
                  <a:srgbClr val="5B6E78"/>
                </a:solidFill>
                <a:latin typeface="Arial"/>
              </a:rPr>
              <a:t>   mount solve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5120640" y="1609344"/>
            <a:ext cx="3008376" cy="219456"/>
          </a:xfrm>
          <a:prstGeom prst="rect">
            <a:avLst/>
          </a:prstGeom>
          <a:solidFill>
            <a:srgbClr val="14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5120640" y="1609344"/>
            <a:ext cx="3008376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0" b="1">
                <a:solidFill>
                  <a:srgbClr val="FFFFFF"/>
                </a:solidFill>
                <a:latin typeface="Arial"/>
              </a:rPr>
              <a:t>OBSERVE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5120640" y="1865376"/>
            <a:ext cx="145846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5120640" y="1865376"/>
            <a:ext cx="1458468" cy="329184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SVO</a:t>
            </a:r>
          </a:p>
          <a:p>
            <a:pPr>
              <a:lnSpc>
                <a:spcPct val="94000"/>
              </a:lnSpc>
            </a:pPr>
            <a:r>
              <a:rPr sz="780" b="0">
                <a:solidFill>
                  <a:srgbClr val="5B6E78"/>
                </a:solidFill>
                <a:latin typeface="Arial"/>
              </a:rPr>
              <a:t>spectral speed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6670548" y="1865376"/>
            <a:ext cx="145846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6670548" y="1865376"/>
            <a:ext cx="1458468" cy="329184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CTS</a:t>
            </a:r>
          </a:p>
          <a:p>
            <a:pPr>
              <a:lnSpc>
                <a:spcPct val="94000"/>
              </a:lnSpc>
            </a:pPr>
            <a:r>
              <a:rPr sz="780" b="0">
                <a:solidFill>
                  <a:srgbClr val="5B6E78"/>
                </a:solidFill>
                <a:latin typeface="Arial"/>
              </a:rPr>
              <a:t>turn speed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5120640" y="2249424"/>
            <a:ext cx="145846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5120640" y="2249424"/>
            <a:ext cx="1458468" cy="329184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CSA</a:t>
            </a:r>
          </a:p>
          <a:p>
            <a:pPr>
              <a:lnSpc>
                <a:spcPct val="94000"/>
              </a:lnSpc>
            </a:pPr>
            <a:r>
              <a:rPr sz="780" b="0">
                <a:solidFill>
                  <a:srgbClr val="5B6E78"/>
                </a:solidFill>
                <a:latin typeface="Arial"/>
              </a:rPr>
              <a:t>map arc length</a:t>
            </a:r>
          </a:p>
        </p:txBody>
      </p:sp>
      <p:sp>
        <p:nvSpPr>
          <p:cNvPr id="17449" name="Rectangle 17448"/>
          <p:cNvSpPr/>
          <p:nvPr/>
        </p:nvSpPr>
        <p:spPr>
          <a:xfrm>
            <a:off x="6670548" y="2249424"/>
            <a:ext cx="145846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6670548" y="2249424"/>
            <a:ext cx="1458468" cy="329184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EFA</a:t>
            </a:r>
          </a:p>
          <a:p>
            <a:pPr>
              <a:lnSpc>
                <a:spcPct val="94000"/>
              </a:lnSpc>
            </a:pPr>
            <a:r>
              <a:rPr sz="780" b="0">
                <a:solidFill>
                  <a:srgbClr val="5B6E78"/>
                </a:solidFill>
                <a:latin typeface="Arial"/>
              </a:rPr>
              <a:t>field anchors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5120640" y="2633472"/>
            <a:ext cx="145846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5120640" y="2633472"/>
            <a:ext cx="1458468" cy="329184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NHC</a:t>
            </a:r>
          </a:p>
          <a:p>
            <a:pPr>
              <a:lnSpc>
                <a:spcPct val="94000"/>
              </a:lnSpc>
            </a:pPr>
            <a:r>
              <a:rPr sz="780" b="0">
                <a:solidFill>
                  <a:srgbClr val="5B6E78"/>
                </a:solidFill>
                <a:latin typeface="Arial"/>
              </a:rPr>
              <a:t>zero side-slip</a:t>
            </a:r>
          </a:p>
        </p:txBody>
      </p:sp>
      <p:sp>
        <p:nvSpPr>
          <p:cNvPr id="17453" name="Rectangle 17452"/>
          <p:cNvSpPr/>
          <p:nvPr/>
        </p:nvSpPr>
        <p:spPr>
          <a:xfrm>
            <a:off x="6670548" y="2633472"/>
            <a:ext cx="145846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6670548" y="2633472"/>
            <a:ext cx="1458468" cy="329184"/>
          </a:xfrm>
          <a:prstGeom prst="rect">
            <a:avLst/>
          </a:prstGeom>
          <a:noFill/>
        </p:spPr>
        <p:txBody>
          <a:bodyPr wrap="square" lIns="45720" rIns="45720" tIns="9144" bIns="9144" anchor="ctr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GQM</a:t>
            </a:r>
          </a:p>
          <a:p>
            <a:pPr>
              <a:lnSpc>
                <a:spcPct val="94000"/>
              </a:lnSpc>
            </a:pPr>
            <a:r>
              <a:rPr sz="780" b="0">
                <a:solidFill>
                  <a:srgbClr val="5B6E78"/>
                </a:solidFill>
                <a:latin typeface="Arial"/>
              </a:rPr>
              <a:t>sat trust</a:t>
            </a:r>
          </a:p>
        </p:txBody>
      </p:sp>
      <p:sp>
        <p:nvSpPr>
          <p:cNvPr id="17455" name="Rectangle 17454"/>
          <p:cNvSpPr/>
          <p:nvPr/>
        </p:nvSpPr>
        <p:spPr>
          <a:xfrm>
            <a:off x="8366760" y="1609344"/>
            <a:ext cx="1691640" cy="219456"/>
          </a:xfrm>
          <a:prstGeom prst="rect">
            <a:avLst/>
          </a:prstGeom>
          <a:solidFill>
            <a:srgbClr val="14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8366760" y="1609344"/>
            <a:ext cx="16916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0" b="1">
                <a:solidFill>
                  <a:srgbClr val="FFFFFF"/>
                </a:solidFill>
                <a:latin typeface="Arial"/>
              </a:rPr>
              <a:t>FUSE</a:t>
            </a:r>
          </a:p>
        </p:txBody>
      </p:sp>
      <p:sp>
        <p:nvSpPr>
          <p:cNvPr id="17457" name="Rectangle 17456"/>
          <p:cNvSpPr/>
          <p:nvPr/>
        </p:nvSpPr>
        <p:spPr>
          <a:xfrm>
            <a:off x="8366760" y="1865376"/>
            <a:ext cx="169164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8366760" y="1865376"/>
            <a:ext cx="1691640" cy="265176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RI-EKF</a:t>
            </a:r>
            <a:r>
              <a:rPr sz="780" b="0">
                <a:solidFill>
                  <a:srgbClr val="5B6E78"/>
                </a:solidFill>
                <a:latin typeface="Arial"/>
              </a:rPr>
              <a:t>   SE₂(3)</a:t>
            </a:r>
          </a:p>
        </p:txBody>
      </p:sp>
      <p:sp>
        <p:nvSpPr>
          <p:cNvPr id="17459" name="Rectangle 17458"/>
          <p:cNvSpPr/>
          <p:nvPr/>
        </p:nvSpPr>
        <p:spPr>
          <a:xfrm>
            <a:off x="8366760" y="2176272"/>
            <a:ext cx="169164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8366760" y="2176272"/>
            <a:ext cx="1691640" cy="265176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learned σ</a:t>
            </a:r>
            <a:r>
              <a:rPr sz="780" b="0">
                <a:solidFill>
                  <a:srgbClr val="5B6E78"/>
                </a:solidFill>
                <a:latin typeface="Arial"/>
              </a:rPr>
              <a:t>   per measurement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8366760" y="2487168"/>
            <a:ext cx="169164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2" name="TextBox 17461"/>
          <p:cNvSpPr txBox="1"/>
          <p:nvPr/>
        </p:nvSpPr>
        <p:spPr>
          <a:xfrm>
            <a:off x="8366760" y="2487168"/>
            <a:ext cx="1691640" cy="265176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learned Q</a:t>
            </a:r>
            <a:r>
              <a:rPr sz="780" b="0">
                <a:solidFill>
                  <a:srgbClr val="5B6E78"/>
                </a:solidFill>
                <a:latin typeface="Arial"/>
              </a:rPr>
              <a:t>   transformer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8366760" y="2798064"/>
            <a:ext cx="169164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8366760" y="2798064"/>
            <a:ext cx="1691640" cy="265176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RB-PF</a:t>
            </a:r>
            <a:r>
              <a:rPr sz="780" b="0">
                <a:solidFill>
                  <a:srgbClr val="5B6E78"/>
                </a:solidFill>
                <a:latin typeface="Arial"/>
              </a:rPr>
              <a:t>   road graph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10296144" y="1609344"/>
            <a:ext cx="1435608" cy="219456"/>
          </a:xfrm>
          <a:prstGeom prst="rect">
            <a:avLst/>
          </a:prstGeom>
          <a:solidFill>
            <a:srgbClr val="14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10296144" y="1609344"/>
            <a:ext cx="1435608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0" b="1">
                <a:solidFill>
                  <a:srgbClr val="FFFFFF"/>
                </a:solidFill>
                <a:latin typeface="Arial"/>
              </a:rPr>
              <a:t>DELIVER</a:t>
            </a:r>
          </a:p>
        </p:txBody>
      </p:sp>
      <p:sp>
        <p:nvSpPr>
          <p:cNvPr id="17467" name="Rectangle 17466"/>
          <p:cNvSpPr/>
          <p:nvPr/>
        </p:nvSpPr>
        <p:spPr>
          <a:xfrm>
            <a:off x="10296144" y="1865376"/>
            <a:ext cx="143560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10296144" y="1865376"/>
            <a:ext cx="1435608" cy="265176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10 Hz</a:t>
            </a:r>
            <a:r>
              <a:rPr sz="780" b="0">
                <a:solidFill>
                  <a:srgbClr val="5B6E78"/>
                </a:solidFill>
                <a:latin typeface="Arial"/>
              </a:rPr>
              <a:t>   phone pose</a:t>
            </a:r>
          </a:p>
        </p:txBody>
      </p:sp>
      <p:sp>
        <p:nvSpPr>
          <p:cNvPr id="17469" name="Rectangle 17468"/>
          <p:cNvSpPr/>
          <p:nvPr/>
        </p:nvSpPr>
        <p:spPr>
          <a:xfrm>
            <a:off x="10296144" y="2176272"/>
            <a:ext cx="143560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0" name="TextBox 17469"/>
          <p:cNvSpPr txBox="1"/>
          <p:nvPr/>
        </p:nvSpPr>
        <p:spPr>
          <a:xfrm>
            <a:off x="10296144" y="2176272"/>
            <a:ext cx="1435608" cy="265176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200 Hz</a:t>
            </a:r>
            <a:r>
              <a:rPr sz="780" b="0">
                <a:solidFill>
                  <a:srgbClr val="5B6E78"/>
                </a:solidFill>
                <a:latin typeface="Arial"/>
              </a:rPr>
              <a:t>   edge pose</a:t>
            </a:r>
          </a:p>
        </p:txBody>
      </p:sp>
      <p:sp>
        <p:nvSpPr>
          <p:cNvPr id="17471" name="Rectangle 17470"/>
          <p:cNvSpPr/>
          <p:nvPr/>
        </p:nvSpPr>
        <p:spPr>
          <a:xfrm>
            <a:off x="10296144" y="2487168"/>
            <a:ext cx="143560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2" name="TextBox 17471"/>
          <p:cNvSpPr txBox="1"/>
          <p:nvPr/>
        </p:nvSpPr>
        <p:spPr>
          <a:xfrm>
            <a:off x="10296144" y="2487168"/>
            <a:ext cx="1435608" cy="265176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Lane-level</a:t>
            </a:r>
            <a:r>
              <a:rPr sz="780" b="0">
                <a:solidFill>
                  <a:srgbClr val="5B6E78"/>
                </a:solidFill>
                <a:latin typeface="Arial"/>
              </a:rPr>
              <a:t>   + tube</a:t>
            </a:r>
          </a:p>
        </p:txBody>
      </p:sp>
      <p:sp>
        <p:nvSpPr>
          <p:cNvPr id="17473" name="Rectangle 17472"/>
          <p:cNvSpPr/>
          <p:nvPr/>
        </p:nvSpPr>
        <p:spPr>
          <a:xfrm>
            <a:off x="10296144" y="2798064"/>
            <a:ext cx="143560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4" name="TextBox 17473"/>
          <p:cNvSpPr txBox="1"/>
          <p:nvPr/>
        </p:nvSpPr>
        <p:spPr>
          <a:xfrm>
            <a:off x="10296144" y="2798064"/>
            <a:ext cx="1435608" cy="265176"/>
          </a:xfrm>
          <a:prstGeom prst="rect">
            <a:avLst/>
          </a:prstGeom>
          <a:noFill/>
        </p:spPr>
        <p:txBody>
          <a:bodyPr wrap="square" lIns="54864" rIns="54864" tIns="914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API</a:t>
            </a:r>
            <a:r>
              <a:rPr sz="780" b="0">
                <a:solidFill>
                  <a:srgbClr val="5B6E78"/>
                </a:solidFill>
                <a:latin typeface="Arial"/>
              </a:rPr>
              <a:t>   gRPC · NMEA</a:t>
            </a:r>
          </a:p>
        </p:txBody>
      </p:sp>
      <p:sp>
        <p:nvSpPr>
          <p:cNvPr id="17475" name="Right Arrow 17474"/>
          <p:cNvSpPr/>
          <p:nvPr/>
        </p:nvSpPr>
        <p:spPr>
          <a:xfrm>
            <a:off x="3108960" y="2441448"/>
            <a:ext cx="201168" cy="182880"/>
          </a:xfrm>
          <a:prstGeom prst="rightArrow">
            <a:avLst/>
          </a:prstGeom>
          <a:solidFill>
            <a:srgbClr val="0C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6" name="Right Arrow 17475"/>
          <p:cNvSpPr/>
          <p:nvPr/>
        </p:nvSpPr>
        <p:spPr>
          <a:xfrm>
            <a:off x="4901184" y="2441448"/>
            <a:ext cx="201168" cy="182880"/>
          </a:xfrm>
          <a:prstGeom prst="rightArrow">
            <a:avLst/>
          </a:prstGeom>
          <a:solidFill>
            <a:srgbClr val="0C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7" name="Right Arrow 17476"/>
          <p:cNvSpPr/>
          <p:nvPr/>
        </p:nvSpPr>
        <p:spPr>
          <a:xfrm>
            <a:off x="8147304" y="2441448"/>
            <a:ext cx="201168" cy="182880"/>
          </a:xfrm>
          <a:prstGeom prst="rightArrow">
            <a:avLst/>
          </a:prstGeom>
          <a:solidFill>
            <a:srgbClr val="0C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8" name="Right Arrow 17477"/>
          <p:cNvSpPr/>
          <p:nvPr/>
        </p:nvSpPr>
        <p:spPr>
          <a:xfrm>
            <a:off x="10076688" y="2441448"/>
            <a:ext cx="201168" cy="182880"/>
          </a:xfrm>
          <a:prstGeom prst="rightArrow">
            <a:avLst/>
          </a:prstGeom>
          <a:solidFill>
            <a:srgbClr val="0C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9" name="TextBox 17478"/>
          <p:cNvSpPr txBox="1"/>
          <p:nvPr/>
        </p:nvSpPr>
        <p:spPr>
          <a:xfrm>
            <a:off x="1536192" y="3456432"/>
            <a:ext cx="484632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0C6DB5"/>
                </a:solidFill>
                <a:latin typeface="Arial"/>
              </a:rPr>
              <a:t>DISTRIBUTION</a:t>
            </a:r>
            <a:r>
              <a:rPr sz="800" b="0">
                <a:solidFill>
                  <a:srgbClr val="5B6E78"/>
                </a:solidFill>
                <a:latin typeface="Arial"/>
              </a:rPr>
              <a:t>     signed, immutable, versioned bundles — installed offline</a:t>
            </a:r>
          </a:p>
        </p:txBody>
      </p:sp>
      <p:sp>
        <p:nvSpPr>
          <p:cNvPr id="17480" name="Rectangle 17479"/>
          <p:cNvSpPr/>
          <p:nvPr/>
        </p:nvSpPr>
        <p:spPr>
          <a:xfrm>
            <a:off x="1536192" y="3675887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C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1" name="TextBox 17480"/>
          <p:cNvSpPr txBox="1"/>
          <p:nvPr/>
        </p:nvSpPr>
        <p:spPr>
          <a:xfrm>
            <a:off x="1536192" y="3675887"/>
            <a:ext cx="1554480" cy="40233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00" b="1">
                <a:solidFill>
                  <a:srgbClr val="14375F"/>
                </a:solidFill>
                <a:latin typeface="Arial"/>
              </a:rPr>
              <a:t>Model registry</a:t>
            </a:r>
          </a:p>
        </p:txBody>
      </p:sp>
      <p:sp>
        <p:nvSpPr>
          <p:cNvPr id="17482" name="Rectangle 17481"/>
          <p:cNvSpPr/>
          <p:nvPr/>
        </p:nvSpPr>
        <p:spPr>
          <a:xfrm>
            <a:off x="3182112" y="3675887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C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3" name="TextBox 17482"/>
          <p:cNvSpPr txBox="1"/>
          <p:nvPr/>
        </p:nvSpPr>
        <p:spPr>
          <a:xfrm>
            <a:off x="3182112" y="3675887"/>
            <a:ext cx="1554480" cy="40233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00" b="1">
                <a:solidFill>
                  <a:srgbClr val="14375F"/>
                </a:solidFill>
                <a:latin typeface="Arial"/>
              </a:rPr>
              <a:t>Map / tile CDN</a:t>
            </a:r>
          </a:p>
        </p:txBody>
      </p:sp>
      <p:sp>
        <p:nvSpPr>
          <p:cNvPr id="17484" name="Rectangle 17483"/>
          <p:cNvSpPr/>
          <p:nvPr/>
        </p:nvSpPr>
        <p:spPr>
          <a:xfrm>
            <a:off x="4828032" y="3675887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C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5" name="TextBox 17484"/>
          <p:cNvSpPr txBox="1"/>
          <p:nvPr/>
        </p:nvSpPr>
        <p:spPr>
          <a:xfrm>
            <a:off x="4828032" y="3675887"/>
            <a:ext cx="1554480" cy="40233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00" b="1">
                <a:solidFill>
                  <a:srgbClr val="14375F"/>
                </a:solidFill>
                <a:latin typeface="Arial"/>
              </a:rPr>
              <a:t>Config &amp; flags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6675120" y="3456432"/>
            <a:ext cx="5129784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B8A4C"/>
                </a:solidFill>
                <a:latin typeface="Arial"/>
              </a:rPr>
              <a:t>CONTRIBUTION</a:t>
            </a:r>
            <a:r>
              <a:rPr sz="800" b="0">
                <a:solidFill>
                  <a:srgbClr val="5B6E78"/>
                </a:solidFill>
                <a:latin typeface="Arial"/>
              </a:rPr>
              <a:t>     opt-in · ~1 KB per edge · signatures only, never trajectories</a:t>
            </a:r>
          </a:p>
        </p:txBody>
      </p:sp>
      <p:sp>
        <p:nvSpPr>
          <p:cNvPr id="17487" name="Rectangle 17486"/>
          <p:cNvSpPr/>
          <p:nvPr/>
        </p:nvSpPr>
        <p:spPr>
          <a:xfrm>
            <a:off x="6675120" y="3675887"/>
            <a:ext cx="164896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B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8" name="TextBox 17487"/>
          <p:cNvSpPr txBox="1"/>
          <p:nvPr/>
        </p:nvSpPr>
        <p:spPr>
          <a:xfrm>
            <a:off x="6675120" y="3675887"/>
            <a:ext cx="1648968" cy="40233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00" b="1">
                <a:solidFill>
                  <a:srgbClr val="14375F"/>
                </a:solidFill>
                <a:latin typeface="Arial"/>
              </a:rPr>
              <a:t>API gateway</a:t>
            </a:r>
          </a:p>
        </p:txBody>
      </p:sp>
      <p:sp>
        <p:nvSpPr>
          <p:cNvPr id="17489" name="Rectangle 17488"/>
          <p:cNvSpPr/>
          <p:nvPr/>
        </p:nvSpPr>
        <p:spPr>
          <a:xfrm>
            <a:off x="8415528" y="3675887"/>
            <a:ext cx="164896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B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0" name="TextBox 17489"/>
          <p:cNvSpPr txBox="1"/>
          <p:nvPr/>
        </p:nvSpPr>
        <p:spPr>
          <a:xfrm>
            <a:off x="8415528" y="3675887"/>
            <a:ext cx="1648968" cy="40233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00" b="1">
                <a:solidFill>
                  <a:srgbClr val="14375F"/>
                </a:solidFill>
                <a:latin typeface="Arial"/>
              </a:rPr>
              <a:t>Stream queue</a:t>
            </a:r>
          </a:p>
        </p:txBody>
      </p:sp>
      <p:sp>
        <p:nvSpPr>
          <p:cNvPr id="17491" name="Rectangle 17490"/>
          <p:cNvSpPr/>
          <p:nvPr/>
        </p:nvSpPr>
        <p:spPr>
          <a:xfrm>
            <a:off x="10155936" y="3675887"/>
            <a:ext cx="164896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B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2" name="TextBox 17491"/>
          <p:cNvSpPr txBox="1"/>
          <p:nvPr/>
        </p:nvSpPr>
        <p:spPr>
          <a:xfrm>
            <a:off x="10155936" y="3675887"/>
            <a:ext cx="1648968" cy="40233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00" b="1">
                <a:solidFill>
                  <a:srgbClr val="14375F"/>
                </a:solidFill>
                <a:latin typeface="Arial"/>
              </a:rPr>
              <a:t>k-anon aggregator</a:t>
            </a:r>
          </a:p>
        </p:txBody>
      </p:sp>
      <p:sp>
        <p:nvSpPr>
          <p:cNvPr id="17493" name="Up Arrow 17492"/>
          <p:cNvSpPr/>
          <p:nvPr/>
        </p:nvSpPr>
        <p:spPr>
          <a:xfrm>
            <a:off x="2999232" y="3255264"/>
            <a:ext cx="219456" cy="146304"/>
          </a:xfrm>
          <a:prstGeom prst="upArrow">
            <a:avLst/>
          </a:prstGeom>
          <a:solidFill>
            <a:srgbClr val="0C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4" name="Up Arrow 17493"/>
          <p:cNvSpPr/>
          <p:nvPr/>
        </p:nvSpPr>
        <p:spPr>
          <a:xfrm>
            <a:off x="2999232" y="4187952"/>
            <a:ext cx="219456" cy="146304"/>
          </a:xfrm>
          <a:prstGeom prst="upArrow">
            <a:avLst/>
          </a:prstGeom>
          <a:solidFill>
            <a:srgbClr val="0C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5" name="Down Arrow 17494"/>
          <p:cNvSpPr/>
          <p:nvPr/>
        </p:nvSpPr>
        <p:spPr>
          <a:xfrm>
            <a:off x="9290304" y="3255264"/>
            <a:ext cx="219456" cy="146304"/>
          </a:xfrm>
          <a:prstGeom prst="downArrow">
            <a:avLst/>
          </a:prstGeom>
          <a:solidFill>
            <a:srgbClr val="1B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6" name="Down Arrow 17495"/>
          <p:cNvSpPr/>
          <p:nvPr/>
        </p:nvSpPr>
        <p:spPr>
          <a:xfrm>
            <a:off x="9290304" y="4187952"/>
            <a:ext cx="219456" cy="146304"/>
          </a:xfrm>
          <a:prstGeom prst="downArrow">
            <a:avLst/>
          </a:prstGeom>
          <a:solidFill>
            <a:srgbClr val="1B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7" name="TextBox 17496"/>
          <p:cNvSpPr txBox="1"/>
          <p:nvPr/>
        </p:nvSpPr>
        <p:spPr>
          <a:xfrm>
            <a:off x="1536192" y="4389120"/>
            <a:ext cx="484632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MAP BUILD</a:t>
            </a:r>
            <a:r>
              <a:rPr sz="800" b="0">
                <a:solidFill>
                  <a:srgbClr val="5B6E78"/>
                </a:solidFill>
                <a:latin typeface="Arial"/>
              </a:rPr>
              <a:t>     per region, independently</a:t>
            </a:r>
          </a:p>
        </p:txBody>
      </p:sp>
      <p:sp>
        <p:nvSpPr>
          <p:cNvPr id="17498" name="Rectangle 17497"/>
          <p:cNvSpPr/>
          <p:nvPr/>
        </p:nvSpPr>
        <p:spPr>
          <a:xfrm>
            <a:off x="1536192" y="4590288"/>
            <a:ext cx="1554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3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9" name="TextBox 17498"/>
          <p:cNvSpPr txBox="1"/>
          <p:nvPr/>
        </p:nvSpPr>
        <p:spPr>
          <a:xfrm>
            <a:off x="1536192" y="4590288"/>
            <a:ext cx="155448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OSM extract</a:t>
            </a:r>
          </a:p>
        </p:txBody>
      </p:sp>
      <p:sp>
        <p:nvSpPr>
          <p:cNvPr id="17500" name="Right Arrow 17499"/>
          <p:cNvSpPr/>
          <p:nvPr/>
        </p:nvSpPr>
        <p:spPr>
          <a:xfrm>
            <a:off x="3086100" y="4700016"/>
            <a:ext cx="100584" cy="164592"/>
          </a:xfrm>
          <a:prstGeom prst="rightArrow">
            <a:avLst/>
          </a:prstGeom>
          <a:solidFill>
            <a:srgbClr val="CD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1" name="Rectangle 17500"/>
          <p:cNvSpPr/>
          <p:nvPr/>
        </p:nvSpPr>
        <p:spPr>
          <a:xfrm>
            <a:off x="3182112" y="4590288"/>
            <a:ext cx="1554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3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2" name="TextBox 17501"/>
          <p:cNvSpPr txBox="1"/>
          <p:nvPr/>
        </p:nvSpPr>
        <p:spPr>
          <a:xfrm>
            <a:off x="3182112" y="4590288"/>
            <a:ext cx="155448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Graph + κ(s) LUT</a:t>
            </a:r>
          </a:p>
        </p:txBody>
      </p:sp>
      <p:sp>
        <p:nvSpPr>
          <p:cNvPr id="17503" name="Right Arrow 17502"/>
          <p:cNvSpPr/>
          <p:nvPr/>
        </p:nvSpPr>
        <p:spPr>
          <a:xfrm>
            <a:off x="4732020" y="4700016"/>
            <a:ext cx="100584" cy="164592"/>
          </a:xfrm>
          <a:prstGeom prst="rightArrow">
            <a:avLst/>
          </a:prstGeom>
          <a:solidFill>
            <a:srgbClr val="CD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4" name="Rectangle 17503"/>
          <p:cNvSpPr/>
          <p:nvPr/>
        </p:nvSpPr>
        <p:spPr>
          <a:xfrm>
            <a:off x="4828032" y="4590288"/>
            <a:ext cx="1554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3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5" name="TextBox 17504"/>
          <p:cNvSpPr txBox="1"/>
          <p:nvPr/>
        </p:nvSpPr>
        <p:spPr>
          <a:xfrm>
            <a:off x="4828032" y="4590288"/>
            <a:ext cx="155448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DEM · PMTiles</a:t>
            </a:r>
          </a:p>
        </p:txBody>
      </p:sp>
      <p:sp>
        <p:nvSpPr>
          <p:cNvPr id="17506" name="TextBox 17505"/>
          <p:cNvSpPr txBox="1"/>
          <p:nvPr/>
        </p:nvSpPr>
        <p:spPr>
          <a:xfrm>
            <a:off x="6675120" y="4389120"/>
            <a:ext cx="5129784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LEARNING</a:t>
            </a:r>
            <a:r>
              <a:rPr sz="800" b="0">
                <a:solidFill>
                  <a:srgbClr val="5B6E78"/>
                </a:solidFill>
                <a:latin typeface="Arial"/>
              </a:rPr>
              <a:t>     nightly retrain, gated on the benchmark</a:t>
            </a:r>
          </a:p>
        </p:txBody>
      </p:sp>
      <p:sp>
        <p:nvSpPr>
          <p:cNvPr id="17507" name="Rectangle 17506"/>
          <p:cNvSpPr/>
          <p:nvPr/>
        </p:nvSpPr>
        <p:spPr>
          <a:xfrm>
            <a:off x="6675120" y="4590288"/>
            <a:ext cx="121386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3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8" name="TextBox 17507"/>
          <p:cNvSpPr txBox="1"/>
          <p:nvPr/>
        </p:nvSpPr>
        <p:spPr>
          <a:xfrm>
            <a:off x="6675120" y="4590288"/>
            <a:ext cx="1213866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Data lake</a:t>
            </a:r>
          </a:p>
        </p:txBody>
      </p:sp>
      <p:sp>
        <p:nvSpPr>
          <p:cNvPr id="17509" name="Right Arrow 17508"/>
          <p:cNvSpPr/>
          <p:nvPr/>
        </p:nvSpPr>
        <p:spPr>
          <a:xfrm>
            <a:off x="7884413" y="4700016"/>
            <a:ext cx="100584" cy="164592"/>
          </a:xfrm>
          <a:prstGeom prst="rightArrow">
            <a:avLst/>
          </a:prstGeom>
          <a:solidFill>
            <a:srgbClr val="CD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0" name="Rectangle 17509"/>
          <p:cNvSpPr/>
          <p:nvPr/>
        </p:nvSpPr>
        <p:spPr>
          <a:xfrm>
            <a:off x="7980425" y="4590288"/>
            <a:ext cx="121386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3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11" name="TextBox 17510"/>
          <p:cNvSpPr txBox="1"/>
          <p:nvPr/>
        </p:nvSpPr>
        <p:spPr>
          <a:xfrm>
            <a:off x="7980425" y="4590288"/>
            <a:ext cx="1213866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Training cluster</a:t>
            </a:r>
          </a:p>
        </p:txBody>
      </p:sp>
      <p:sp>
        <p:nvSpPr>
          <p:cNvPr id="17512" name="Right Arrow 17511"/>
          <p:cNvSpPr/>
          <p:nvPr/>
        </p:nvSpPr>
        <p:spPr>
          <a:xfrm>
            <a:off x="9189719" y="4700016"/>
            <a:ext cx="100584" cy="164592"/>
          </a:xfrm>
          <a:prstGeom prst="rightArrow">
            <a:avLst/>
          </a:prstGeom>
          <a:solidFill>
            <a:srgbClr val="CD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3" name="Rectangle 17512"/>
          <p:cNvSpPr/>
          <p:nvPr/>
        </p:nvSpPr>
        <p:spPr>
          <a:xfrm>
            <a:off x="9285732" y="4590288"/>
            <a:ext cx="121386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3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14" name="TextBox 17513"/>
          <p:cNvSpPr txBox="1"/>
          <p:nvPr/>
        </p:nvSpPr>
        <p:spPr>
          <a:xfrm>
            <a:off x="9285732" y="4590288"/>
            <a:ext cx="1213866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Eval gate</a:t>
            </a:r>
          </a:p>
        </p:txBody>
      </p:sp>
      <p:sp>
        <p:nvSpPr>
          <p:cNvPr id="17515" name="Right Arrow 17514"/>
          <p:cNvSpPr/>
          <p:nvPr/>
        </p:nvSpPr>
        <p:spPr>
          <a:xfrm>
            <a:off x="10495026" y="4700016"/>
            <a:ext cx="100584" cy="164592"/>
          </a:xfrm>
          <a:prstGeom prst="rightArrow">
            <a:avLst/>
          </a:prstGeom>
          <a:solidFill>
            <a:srgbClr val="CDD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6" name="Rectangle 17515"/>
          <p:cNvSpPr/>
          <p:nvPr/>
        </p:nvSpPr>
        <p:spPr>
          <a:xfrm>
            <a:off x="10591038" y="4590288"/>
            <a:ext cx="121386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43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17" name="TextBox 17516"/>
          <p:cNvSpPr txBox="1"/>
          <p:nvPr/>
        </p:nvSpPr>
        <p:spPr>
          <a:xfrm>
            <a:off x="10591038" y="4590288"/>
            <a:ext cx="1213866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Telemetry &amp; KPI</a:t>
            </a:r>
          </a:p>
        </p:txBody>
      </p:sp>
      <p:sp>
        <p:nvSpPr>
          <p:cNvPr id="17518" name="TextBox 17517"/>
          <p:cNvSpPr txBox="1"/>
          <p:nvPr/>
        </p:nvSpPr>
        <p:spPr>
          <a:xfrm>
            <a:off x="1536192" y="5010912"/>
            <a:ext cx="10268712" cy="25603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>
              <a:lnSpc>
                <a:spcPct val="100000"/>
              </a:lnSpc>
            </a:pPr>
            <a:r>
              <a:rPr sz="840" b="1">
                <a:solidFill>
                  <a:srgbClr val="14375F"/>
                </a:solidFill>
                <a:latin typeface="Arial"/>
              </a:rPr>
              <a:t>SCALES BY SHARDING, NOT BY CAPACITY</a:t>
            </a:r>
            <a:r>
              <a:rPr sz="819" b="0">
                <a:solidFill>
                  <a:srgbClr val="14212B"/>
                </a:solidFill>
                <a:latin typeface="Arial"/>
              </a:rPr>
              <a:t>     zero runtime API calls, so device count adds no serving load  ·  ≤250 MB per region  ·  immutable CDN bundles  ·  contribution ~1 KB per edge</a:t>
            </a:r>
          </a:p>
        </p:txBody>
      </p:sp>
      <p:sp>
        <p:nvSpPr>
          <p:cNvPr id="17519" name="TextBox 17518"/>
          <p:cNvSpPr txBox="1"/>
          <p:nvPr/>
        </p:nvSpPr>
        <p:spPr>
          <a:xfrm>
            <a:off x="384048" y="5394960"/>
            <a:ext cx="1142085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Technologies to be used</a:t>
            </a:r>
          </a:p>
        </p:txBody>
      </p:sp>
      <p:cxnSp>
        <p:nvCxnSpPr>
          <p:cNvPr id="17520" name="Connector 17519"/>
          <p:cNvCxnSpPr/>
          <p:nvPr/>
        </p:nvCxnSpPr>
        <p:spPr>
          <a:xfrm>
            <a:off x="384048" y="5660136"/>
            <a:ext cx="11420856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21" name="Rectangle 17520"/>
          <p:cNvSpPr/>
          <p:nvPr/>
        </p:nvSpPr>
        <p:spPr>
          <a:xfrm>
            <a:off x="384048" y="5742432"/>
            <a:ext cx="2211019" cy="493776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22" name="TextBox 17521"/>
          <p:cNvSpPr txBox="1"/>
          <p:nvPr/>
        </p:nvSpPr>
        <p:spPr>
          <a:xfrm>
            <a:off x="384048" y="5760720"/>
            <a:ext cx="2211019" cy="457200"/>
          </a:xfrm>
          <a:prstGeom prst="rect">
            <a:avLst/>
          </a:prstGeom>
          <a:noFill/>
        </p:spPr>
        <p:txBody>
          <a:bodyPr wrap="square" lIns="73152" rIns="73152" tIns="9144" bIns="9144" anchor="t">
            <a:spAutoFit/>
          </a:bodyPr>
          <a:lstStyle/>
          <a:p>
            <a:pPr>
              <a:lnSpc>
                <a:spcPct val="96000"/>
              </a:lnSpc>
              <a:spcAft>
                <a:spcPts val="10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Training</a:t>
            </a:r>
          </a:p>
          <a:p>
            <a:pPr>
              <a:lnSpc>
                <a:spcPct val="100000"/>
              </a:lnSpc>
            </a:pPr>
            <a:r>
              <a:rPr sz="819" b="0">
                <a:solidFill>
                  <a:srgbClr val="14212B"/>
                </a:solidFill>
                <a:latin typeface="Arial"/>
              </a:rPr>
              <a:t>PyTorch · Lightning · Hydra · MLflow · masked-IMU pretraining</a:t>
            </a:r>
          </a:p>
        </p:txBody>
      </p:sp>
      <p:sp>
        <p:nvSpPr>
          <p:cNvPr id="17523" name="Rectangle 17522"/>
          <p:cNvSpPr/>
          <p:nvPr/>
        </p:nvSpPr>
        <p:spPr>
          <a:xfrm>
            <a:off x="2686507" y="5742432"/>
            <a:ext cx="2211019" cy="493776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24" name="TextBox 17523"/>
          <p:cNvSpPr txBox="1"/>
          <p:nvPr/>
        </p:nvSpPr>
        <p:spPr>
          <a:xfrm>
            <a:off x="2686507" y="5760720"/>
            <a:ext cx="2211019" cy="457200"/>
          </a:xfrm>
          <a:prstGeom prst="rect">
            <a:avLst/>
          </a:prstGeom>
          <a:noFill/>
        </p:spPr>
        <p:txBody>
          <a:bodyPr wrap="square" lIns="73152" rIns="73152" tIns="9144" bIns="9144" anchor="t">
            <a:spAutoFit/>
          </a:bodyPr>
          <a:lstStyle/>
          <a:p>
            <a:pPr>
              <a:lnSpc>
                <a:spcPct val="96000"/>
              </a:lnSpc>
              <a:spcAft>
                <a:spcPts val="10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On-device</a:t>
            </a:r>
          </a:p>
          <a:p>
            <a:pPr>
              <a:lnSpc>
                <a:spcPct val="100000"/>
              </a:lnSpc>
            </a:pPr>
            <a:r>
              <a:rPr sz="819" b="0">
                <a:solidFill>
                  <a:srgbClr val="14212B"/>
                </a:solidFill>
                <a:latin typeface="Arial"/>
              </a:rPr>
              <a:t>LiteRT + XNNPACK · ExecuTorch · int8 QAT · 3.6 MB total</a:t>
            </a:r>
          </a:p>
        </p:txBody>
      </p:sp>
      <p:sp>
        <p:nvSpPr>
          <p:cNvPr id="17525" name="Rectangle 17524"/>
          <p:cNvSpPr/>
          <p:nvPr/>
        </p:nvSpPr>
        <p:spPr>
          <a:xfrm>
            <a:off x="4988966" y="5742432"/>
            <a:ext cx="2211019" cy="493776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26" name="TextBox 17525"/>
          <p:cNvSpPr txBox="1"/>
          <p:nvPr/>
        </p:nvSpPr>
        <p:spPr>
          <a:xfrm>
            <a:off x="4988966" y="5760720"/>
            <a:ext cx="2211019" cy="457200"/>
          </a:xfrm>
          <a:prstGeom prst="rect">
            <a:avLst/>
          </a:prstGeom>
          <a:noFill/>
        </p:spPr>
        <p:txBody>
          <a:bodyPr wrap="square" lIns="73152" rIns="73152" tIns="9144" bIns="9144" anchor="t">
            <a:spAutoFit/>
          </a:bodyPr>
          <a:lstStyle/>
          <a:p>
            <a:pPr>
              <a:lnSpc>
                <a:spcPct val="96000"/>
              </a:lnSpc>
              <a:spcAft>
                <a:spcPts val="10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Engine</a:t>
            </a:r>
          </a:p>
          <a:p>
            <a:pPr>
              <a:lnSpc>
                <a:spcPct val="100000"/>
              </a:lnSpc>
            </a:pPr>
            <a:r>
              <a:rPr sz="819" b="0">
                <a:solidFill>
                  <a:srgbClr val="14212B"/>
                </a:solidFill>
                <a:latin typeface="Arial"/>
              </a:rPr>
              <a:t>C++20 · Eigen · SE₂(3) Lie · FlatBuffers · GTest replay</a:t>
            </a:r>
          </a:p>
        </p:txBody>
      </p:sp>
      <p:sp>
        <p:nvSpPr>
          <p:cNvPr id="17527" name="Rectangle 17526"/>
          <p:cNvSpPr/>
          <p:nvPr/>
        </p:nvSpPr>
        <p:spPr>
          <a:xfrm>
            <a:off x="7291425" y="5742432"/>
            <a:ext cx="2211019" cy="493776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28" name="TextBox 17527"/>
          <p:cNvSpPr txBox="1"/>
          <p:nvPr/>
        </p:nvSpPr>
        <p:spPr>
          <a:xfrm>
            <a:off x="7291425" y="5760720"/>
            <a:ext cx="2211019" cy="457200"/>
          </a:xfrm>
          <a:prstGeom prst="rect">
            <a:avLst/>
          </a:prstGeom>
          <a:noFill/>
        </p:spPr>
        <p:txBody>
          <a:bodyPr wrap="square" lIns="73152" rIns="73152" tIns="9144" bIns="9144" anchor="t">
            <a:spAutoFit/>
          </a:bodyPr>
          <a:lstStyle/>
          <a:p>
            <a:pPr>
              <a:lnSpc>
                <a:spcPct val="96000"/>
              </a:lnSpc>
              <a:spcAft>
                <a:spcPts val="10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Mobile</a:t>
            </a:r>
          </a:p>
          <a:p>
            <a:pPr>
              <a:lnSpc>
                <a:spcPct val="100000"/>
              </a:lnSpc>
            </a:pPr>
            <a:r>
              <a:rPr sz="819" b="0">
                <a:solidFill>
                  <a:srgbClr val="14212B"/>
                </a:solidFill>
                <a:latin typeface="Arial"/>
              </a:rPr>
              <a:t>Kotlin · Compose · MapLibre + PMTiles · SensorDirectChannel</a:t>
            </a:r>
          </a:p>
        </p:txBody>
      </p:sp>
      <p:sp>
        <p:nvSpPr>
          <p:cNvPr id="17529" name="Rectangle 17528"/>
          <p:cNvSpPr/>
          <p:nvPr/>
        </p:nvSpPr>
        <p:spPr>
          <a:xfrm>
            <a:off x="9593884" y="5742432"/>
            <a:ext cx="2211019" cy="493776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30" name="TextBox 17529"/>
          <p:cNvSpPr txBox="1"/>
          <p:nvPr/>
        </p:nvSpPr>
        <p:spPr>
          <a:xfrm>
            <a:off x="9593884" y="5760720"/>
            <a:ext cx="2211019" cy="457200"/>
          </a:xfrm>
          <a:prstGeom prst="rect">
            <a:avLst/>
          </a:prstGeom>
          <a:noFill/>
        </p:spPr>
        <p:txBody>
          <a:bodyPr wrap="square" lIns="73152" rIns="73152" tIns="9144" bIns="9144" anchor="t">
            <a:spAutoFit/>
          </a:bodyPr>
          <a:lstStyle/>
          <a:p>
            <a:pPr>
              <a:lnSpc>
                <a:spcPct val="96000"/>
              </a:lnSpc>
              <a:spcAft>
                <a:spcPts val="10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Edge &amp; maps</a:t>
            </a:r>
          </a:p>
          <a:p>
            <a:pPr>
              <a:lnSpc>
                <a:spcPct val="100000"/>
              </a:lnSpc>
            </a:pPr>
            <a:r>
              <a:rPr sz="819" b="0">
                <a:solidFill>
                  <a:srgbClr val="14212B"/>
                </a:solidFill>
                <a:latin typeface="Arial"/>
              </a:rPr>
              <a:t>aarch64 · gRPC / NMEA / ROS 2 · osmium · CartoDEM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14375F"/>
                </a:solidFill>
                <a:latin typeface="Arial"/>
              </a:rPr>
              <a:t>Sanskari</a:t>
            </a:r>
            <a:endParaRPr lang="en-IN" dirty="0"/>
          </a:p>
          <a:p>
            <a:pPr algn="ctr">
              <a:lnSpc>
                <a:spcPct val="92000"/>
              </a:lnSpc>
            </a:pPr>
            <a:r>
              <a:rPr sz="1000" b="1">
                <a:solidFill>
                  <a:srgbClr val="0C6DB5"/>
                </a:solidFill>
                <a:latin typeface="Consolas"/>
              </a:rPr>
              <a:t>&lt;CODERS&gt;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70432"/>
            <a:ext cx="396849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Analysis of the feasibility of the idea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384048" y="1435608"/>
            <a:ext cx="3968496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384048" y="1554480"/>
            <a:ext cx="3968496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040" b="1">
                <a:solidFill>
                  <a:srgbClr val="14375F"/>
                </a:solidFill>
                <a:latin typeface="Arial"/>
              </a:rPr>
              <a:t>Data already in hand</a:t>
            </a:r>
          </a:p>
          <a:p>
            <a:pPr>
              <a:lnSpc>
                <a:spcPct val="100000"/>
              </a:lnSpc>
            </a:pPr>
            <a:r>
              <a:rPr sz="919" b="0">
                <a:solidFill>
                  <a:srgbClr val="14212B"/>
                </a:solidFill>
                <a:latin typeface="Arial"/>
              </a:rPr>
              <a:t>IO-VNBD: 5,700 km, phone IMU and CAN bus recorded together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84048" y="1956816"/>
            <a:ext cx="3968496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040" b="1">
                <a:solidFill>
                  <a:srgbClr val="14375F"/>
                </a:solidFill>
                <a:latin typeface="Arial"/>
              </a:rPr>
              <a:t>Core physics is closed-form</a:t>
            </a:r>
          </a:p>
          <a:p>
            <a:pPr>
              <a:lnSpc>
                <a:spcPct val="100000"/>
              </a:lnSpc>
            </a:pPr>
            <a:r>
              <a:rPr sz="919" b="0">
                <a:solidFill>
                  <a:srgbClr val="14212B"/>
                </a:solidFill>
                <a:latin typeface="Arial"/>
              </a:rPr>
              <a:t>v = a_lat/Ω and f = v/2πR are algebra; only residuals learn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84048" y="2359152"/>
            <a:ext cx="3968496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040" b="1">
                <a:solidFill>
                  <a:srgbClr val="14375F"/>
                </a:solidFill>
                <a:latin typeface="Arial"/>
              </a:rPr>
              <a:t>Fits today's phones</a:t>
            </a:r>
          </a:p>
          <a:p>
            <a:pPr>
              <a:lnSpc>
                <a:spcPct val="100000"/>
              </a:lnSpc>
            </a:pPr>
            <a:r>
              <a:rPr sz="919" b="0">
                <a:solidFill>
                  <a:srgbClr val="14212B"/>
                </a:solidFill>
                <a:latin typeface="Arial"/>
              </a:rPr>
              <a:t>3.6 MB int8, 2.7 ms per tick, CPU only — no NPU needed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84048" y="2761488"/>
            <a:ext cx="3968496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040" b="1">
                <a:solidFill>
                  <a:srgbClr val="14375F"/>
                </a:solidFill>
                <a:latin typeface="Arial"/>
              </a:rPr>
              <a:t>Sensors already present</a:t>
            </a:r>
          </a:p>
          <a:p>
            <a:pPr>
              <a:lnSpc>
                <a:spcPct val="100000"/>
              </a:lnSpc>
            </a:pPr>
            <a:r>
              <a:rPr sz="919" b="0">
                <a:solidFill>
                  <a:srgbClr val="14212B"/>
                </a:solidFill>
                <a:latin typeface="Arial"/>
              </a:rPr>
              <a:t>IMU, magnetometer, barometer, raw GNSS with NavIC L5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84048" y="3163824"/>
            <a:ext cx="3968496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040" b="1">
                <a:solidFill>
                  <a:srgbClr val="14375F"/>
                </a:solidFill>
                <a:latin typeface="Arial"/>
              </a:rPr>
              <a:t>Maps fit offline</a:t>
            </a:r>
          </a:p>
          <a:p>
            <a:pPr>
              <a:lnSpc>
                <a:spcPct val="100000"/>
              </a:lnSpc>
            </a:pPr>
            <a:r>
              <a:rPr sz="919" b="0">
                <a:solidFill>
                  <a:srgbClr val="14212B"/>
                </a:solidFill>
                <a:latin typeface="Arial"/>
              </a:rPr>
              <a:t>≤250 MB per metro region, no connectivity at runtime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84048" y="3566160"/>
            <a:ext cx="3968496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040" b="1">
                <a:solidFill>
                  <a:srgbClr val="14375F"/>
                </a:solidFill>
                <a:latin typeface="Arial"/>
              </a:rPr>
              <a:t>Nothing to buy or fit</a:t>
            </a:r>
          </a:p>
          <a:p>
            <a:pPr>
              <a:lnSpc>
                <a:spcPct val="100000"/>
              </a:lnSpc>
            </a:pPr>
            <a:r>
              <a:rPr sz="919" b="0">
                <a:solidFill>
                  <a:srgbClr val="14212B"/>
                </a:solidFill>
                <a:latin typeface="Arial"/>
              </a:rPr>
              <a:t>no dongle, no encoder, no roadside infrastructure</a:t>
            </a:r>
          </a:p>
        </p:txBody>
      </p:sp>
      <p:pic>
        <p:nvPicPr>
          <p:cNvPr id="17418" name="Picture 17417" descr="fig-ti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041648"/>
            <a:ext cx="3968496" cy="1670139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384048" y="5748363"/>
            <a:ext cx="396849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100000"/>
              </a:lnSpc>
            </a:pPr>
            <a:r>
              <a:rPr sz="860" b="0">
                <a:solidFill>
                  <a:srgbClr val="5B6E78"/>
                </a:solidFill>
                <a:latin typeface="Arial"/>
              </a:rPr>
              <a:t>Every device class clears the ceiling. IO-VNBD's 10 Hz stream is Tier C — so that is how we report it.</a:t>
            </a:r>
          </a:p>
        </p:txBody>
      </p:sp>
      <p:graphicFrame>
        <p:nvGraphicFramePr>
          <p:cNvPr id="17420" name="Table 17419"/>
          <p:cNvGraphicFramePr>
            <a:graphicFrameLocks noGrp="1"/>
          </p:cNvGraphicFramePr>
          <p:nvPr/>
        </p:nvGraphicFramePr>
        <p:xfrm>
          <a:off x="4572000" y="1170432"/>
          <a:ext cx="7232904" cy="42940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87168"/>
                <a:gridCol w="749808"/>
                <a:gridCol w="3995928"/>
              </a:tblGrid>
              <a:tr h="365760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64008" marR="64008" anchor="ctr"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Severity</a:t>
                      </a:r>
                    </a:p>
                  </a:txBody>
                  <a:tcPr marL="64008" marR="64008" anchor="ctr"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64008" marR="64008" anchor="ctr">
                    <a:solidFill>
                      <a:srgbClr val="14375F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40" b="1">
                          <a:solidFill>
                            <a:srgbClr val="14375F"/>
                          </a:solidFill>
                          <a:latin typeface="Arial"/>
                        </a:rPr>
                        <a:t>CSA ambiguous on featureless or badly-mapped roads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B3261E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4212B"/>
                          </a:solidFill>
                          <a:latin typeface="Arial"/>
                        </a:rPr>
                        <a:t>Landmark saliency scoring · top-k hypotheses in the particle filter · honest σ. Falls back to classical HMM map matching.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40" b="1">
                          <a:solidFill>
                            <a:srgbClr val="14375F"/>
                          </a:solidFill>
                          <a:latin typeface="Arial"/>
                        </a:rPr>
                        <a:t>Axle harmonics weak — smooth road, quiet EV, soft mount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E8761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4212B"/>
                          </a:solidFill>
                          <a:latin typeface="Arial"/>
                        </a:rPr>
                        <a:t>Mount-quality gate · summation over 8+ orders · learned σ down-weights it. Falls back to Tier B.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40" b="1">
                          <a:solidFill>
                            <a:srgbClr val="14375F"/>
                          </a:solidFill>
                          <a:latin typeface="Arial"/>
                        </a:rPr>
                        <a:t>IO-VNBD phone stream is 10 Hz, so cannot validate SVO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0C6DB5"/>
                          </a:solidFill>
                          <a:latin typeface="Arial"/>
                        </a:rPr>
                        <a:t>Known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4212B"/>
                          </a:solidFill>
                          <a:latin typeface="Arial"/>
                        </a:rPr>
                        <a:t>Declared as capability tiers. SVO validated on self-collected 400 Hz logs.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40" b="1">
                          <a:solidFill>
                            <a:srgbClr val="14375F"/>
                          </a:solidFill>
                          <a:latin typeface="Arial"/>
                        </a:rPr>
                        <a:t>No two-wheeler data in IO-VNBD — four cars, no Indian roads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0C6DB5"/>
                          </a:solidFill>
                          <a:latin typeface="Arial"/>
                        </a:rPr>
                        <a:t>Known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4212B"/>
                          </a:solidFill>
                          <a:latin typeface="Arial"/>
                        </a:rPr>
                        <a:t>Lean relation imposed as a physics loss, so few samples suffice. Dedicated collection.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40" b="1">
                          <a:solidFill>
                            <a:srgbClr val="14375F"/>
                          </a:solidFill>
                          <a:latin typeface="Arial"/>
                        </a:rPr>
                        <a:t>Sensor rate throttled below 200 Hz on some devices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E8761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4212B"/>
                          </a:solidFill>
                          <a:latin typeface="Arial"/>
                        </a:rPr>
                        <a:t>Tier detected at runtime · SensorDirectChannel · verified on three device classes.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40" b="1">
                          <a:solidFill>
                            <a:srgbClr val="14375F"/>
                          </a:solidFill>
                          <a:latin typeface="Arial"/>
                        </a:rPr>
                        <a:t>Uneven OpenStreetMap geometry on Indian roads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E8761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4212B"/>
                          </a:solidFill>
                          <a:latin typeface="Arial"/>
                        </a:rPr>
                        <a:t>Covariance scaled by OSM confidence · explicit off-road particle · provider adapter.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21" name="Rectangle 17420"/>
          <p:cNvSpPr/>
          <p:nvPr/>
        </p:nvSpPr>
        <p:spPr>
          <a:xfrm>
            <a:off x="4572000" y="5650992"/>
            <a:ext cx="7232904" cy="566928"/>
          </a:xfrm>
          <a:prstGeom prst="rect">
            <a:avLst/>
          </a:prstGeom>
          <a:solidFill>
            <a:srgbClr val="E8EFF3"/>
          </a:solidFill>
          <a:ln w="12700">
            <a:solidFill>
              <a:srgbClr val="143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4572000" y="5650992"/>
            <a:ext cx="7232904" cy="566928"/>
          </a:xfrm>
          <a:prstGeom prst="rect">
            <a:avLst/>
          </a:prstGeom>
          <a:noFill/>
        </p:spPr>
        <p:txBody>
          <a:bodyPr wrap="square" lIns="109728" rIns="109728" tIns="9144" bIns="9144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14375F"/>
                </a:solidFill>
                <a:latin typeface="Arial"/>
              </a:rPr>
              <a:t>Fallback ladder</a:t>
            </a:r>
            <a:r>
              <a:rPr sz="919" b="0">
                <a:solidFill>
                  <a:srgbClr val="14212B"/>
                </a:solidFill>
                <a:latin typeface="Arial"/>
              </a:rPr>
              <a:t>     lose CSA → HMM map matching  ·  lose SVO → Tier B  ·  lose both → INS + NHC + ZUPT, which already sits inside the 10 % gate. No single failure leaves us with nothing to demonstrate.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14375F"/>
                </a:solidFill>
                <a:latin typeface="Arial"/>
              </a:rPr>
              <a:t>Sanskari</a:t>
            </a:r>
            <a:endParaRPr lang="en-IN" dirty="0"/>
          </a:p>
          <a:p>
            <a:pPr algn="ctr">
              <a:lnSpc>
                <a:spcPct val="92000"/>
              </a:lnSpc>
            </a:pPr>
            <a:r>
              <a:rPr sz="1000" b="1">
                <a:solidFill>
                  <a:srgbClr val="0C6DB5"/>
                </a:solidFill>
                <a:latin typeface="Consolas"/>
              </a:rPr>
              <a:t>&lt;CODERS&gt;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70432"/>
            <a:ext cx="466344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Potential impact on the target audience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384048" y="1435608"/>
            <a:ext cx="4663440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384048" y="1554480"/>
            <a:ext cx="4663440" cy="4572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14375F"/>
                </a:solidFill>
                <a:latin typeface="Arial"/>
              </a:rPr>
              <a:t>Delivery and quick-commerce riders</a:t>
            </a:r>
          </a:p>
          <a:p>
            <a:pPr>
              <a:lnSpc>
                <a:spcPct val="100000"/>
              </a:lnSpc>
            </a:pPr>
            <a:r>
              <a:rPr sz="980" b="0">
                <a:solidFill>
                  <a:srgbClr val="14212B"/>
                </a:solidFill>
                <a:latin typeface="Arial"/>
              </a:rPr>
              <a:t>the next turn is announced before the exit, not after it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84048" y="2029967"/>
            <a:ext cx="4663440" cy="4572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14375F"/>
                </a:solidFill>
                <a:latin typeface="Arial"/>
              </a:rPr>
              <a:t>Logistics and fleet operators</a:t>
            </a:r>
          </a:p>
          <a:p>
            <a:pPr>
              <a:lnSpc>
                <a:spcPct val="100000"/>
              </a:lnSpc>
            </a:pPr>
            <a:r>
              <a:rPr sz="980" b="0">
                <a:solidFill>
                  <a:srgbClr val="14212B"/>
                </a:solidFill>
                <a:latin typeface="Arial"/>
              </a:rPr>
              <a:t>mileage, ETA and proof of delivery survive the gap — no dongle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84048" y="2505456"/>
            <a:ext cx="4663440" cy="4572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14375F"/>
                </a:solidFill>
                <a:latin typeface="Arial"/>
              </a:rPr>
              <a:t>Ride-hailing drivers and riders</a:t>
            </a:r>
          </a:p>
          <a:p>
            <a:pPr>
              <a:lnSpc>
                <a:spcPct val="100000"/>
              </a:lnSpc>
            </a:pPr>
            <a:r>
              <a:rPr sz="980" b="0">
                <a:solidFill>
                  <a:srgbClr val="14212B"/>
                </a:solidFill>
                <a:latin typeface="Arial"/>
              </a:rPr>
              <a:t>no frozen or teleporting car; pickups on the correct side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84048" y="2980944"/>
            <a:ext cx="4663440" cy="4572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14375F"/>
                </a:solidFill>
                <a:latin typeface="Arial"/>
              </a:rPr>
              <a:t>Emergency responders</a:t>
            </a:r>
          </a:p>
          <a:p>
            <a:pPr>
              <a:lnSpc>
                <a:spcPct val="100000"/>
              </a:lnSpc>
            </a:pPr>
            <a:r>
              <a:rPr sz="980" b="0">
                <a:solidFill>
                  <a:srgbClr val="14212B"/>
                </a:solidFill>
                <a:latin typeface="Arial"/>
              </a:rPr>
              <a:t>a live position underground, where dispatch loses them today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84048" y="3456432"/>
            <a:ext cx="4663440" cy="4572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14375F"/>
                </a:solidFill>
                <a:latin typeface="Arial"/>
              </a:rPr>
              <a:t>Two-wheeler riders</a:t>
            </a:r>
          </a:p>
          <a:p>
            <a:pPr>
              <a:lnSpc>
                <a:spcPct val="100000"/>
              </a:lnSpc>
            </a:pPr>
            <a:r>
              <a:rPr sz="980" b="0">
                <a:solidFill>
                  <a:srgbClr val="14212B"/>
                </a:solidFill>
                <a:latin typeface="Arial"/>
              </a:rPr>
              <a:t>India's largest vehicle class, finally with lean-aware physics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84048" y="3931920"/>
            <a:ext cx="4663440" cy="4572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14375F"/>
                </a:solidFill>
                <a:latin typeface="Arial"/>
              </a:rPr>
              <a:t>Defence and critical logistics</a:t>
            </a:r>
          </a:p>
          <a:p>
            <a:pPr>
              <a:lnSpc>
                <a:spcPct val="100000"/>
              </a:lnSpc>
            </a:pPr>
            <a:r>
              <a:rPr sz="980" b="0">
                <a:solidFill>
                  <a:srgbClr val="14212B"/>
                </a:solidFill>
                <a:latin typeface="Arial"/>
              </a:rPr>
              <a:t>self-contained; degrades gracefully under jamming or spoofing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384048" y="4480560"/>
            <a:ext cx="4663440" cy="1755648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384048" y="4526280"/>
            <a:ext cx="4663440" cy="1664208"/>
          </a:xfrm>
          <a:prstGeom prst="rect">
            <a:avLst/>
          </a:prstGeom>
          <a:noFill/>
        </p:spPr>
        <p:txBody>
          <a:bodyPr wrap="square" lIns="100584" rIns="100584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100" b="1">
                <a:solidFill>
                  <a:srgbClr val="14375F"/>
                </a:solidFill>
                <a:latin typeface="Arial"/>
              </a:rPr>
              <a:t>Where it matters most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60" b="1">
                <a:solidFill>
                  <a:srgbClr val="14212B"/>
                </a:solidFill>
                <a:latin typeface="Arial"/>
              </a:rPr>
              <a:t>Long tunnels and metro underpasses</a:t>
            </a:r>
            <a:r>
              <a:rPr sz="900" b="0">
                <a:solidFill>
                  <a:srgbClr val="5B6E78"/>
                </a:solidFill>
                <a:latin typeface="Arial"/>
              </a:rPr>
              <a:t>   the road is one-dimensional, so the map carries it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60" b="1">
                <a:solidFill>
                  <a:srgbClr val="14212B"/>
                </a:solidFill>
                <a:latin typeface="Arial"/>
              </a:rPr>
              <a:t>Multi-level parking</a:t>
            </a:r>
            <a:r>
              <a:rPr sz="900" b="0">
                <a:solidFill>
                  <a:srgbClr val="5B6E78"/>
                </a:solidFill>
                <a:latin typeface="Arial"/>
              </a:rPr>
              <a:t>   helical ramps are unique signatures; the barometer gives the floor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960" b="1">
                <a:solidFill>
                  <a:srgbClr val="14212B"/>
                </a:solidFill>
                <a:latin typeface="Arial"/>
              </a:rPr>
              <a:t>Dense urban canyons</a:t>
            </a:r>
            <a:r>
              <a:rPr sz="900" b="0">
                <a:solidFill>
                  <a:srgbClr val="5B6E78"/>
                </a:solidFill>
                <a:latin typeface="Arial"/>
              </a:rPr>
              <a:t>   position unusable, but Doppler velocity survives on 3–4 satellites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60" b="1">
                <a:solidFill>
                  <a:srgbClr val="14212B"/>
                </a:solidFill>
                <a:latin typeface="Arial"/>
              </a:rPr>
              <a:t>Forested and valley highways</a:t>
            </a:r>
            <a:r>
              <a:rPr sz="900" b="0">
                <a:solidFill>
                  <a:srgbClr val="5B6E78"/>
                </a:solidFill>
                <a:latin typeface="Arial"/>
              </a:rPr>
              <a:t>   partial GNSS, absorbed by the trust ramp with no mode switch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266944" y="1170432"/>
            <a:ext cx="653796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Benefits of the solution (social, economic, environmental, etc.)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5266944" y="1435608"/>
            <a:ext cx="6537960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ectangle 17421"/>
          <p:cNvSpPr/>
          <p:nvPr/>
        </p:nvSpPr>
        <p:spPr>
          <a:xfrm>
            <a:off x="5266944" y="1554480"/>
            <a:ext cx="3168396" cy="1115568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5266944" y="1600200"/>
            <a:ext cx="3168396" cy="1024128"/>
          </a:xfrm>
          <a:prstGeom prst="rect">
            <a:avLst/>
          </a:prstGeom>
          <a:noFill/>
        </p:spPr>
        <p:txBody>
          <a:bodyPr wrap="square" lIns="100584" rIns="100584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B8A4C"/>
                </a:solidFill>
                <a:latin typeface="Arial"/>
              </a:rPr>
              <a:t>Social</a:t>
            </a:r>
          </a:p>
          <a:p>
            <a:pPr>
              <a:lnSpc>
                <a:spcPct val="104000"/>
              </a:lnSpc>
            </a:pPr>
            <a:r>
              <a:rPr sz="940" b="0">
                <a:solidFill>
                  <a:srgbClr val="14212B"/>
                </a:solidFill>
                <a:latin typeface="Arial"/>
              </a:rPr>
              <a:t>A correct instruction on time means fewer glances at the screen when a rider can least afford one. Emergency crews stay locatable underground. Accurate navigation stops being a feature of expensive cars.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8636508" y="1554480"/>
            <a:ext cx="3168396" cy="1115568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8636508" y="1600200"/>
            <a:ext cx="3168396" cy="1024128"/>
          </a:xfrm>
          <a:prstGeom prst="rect">
            <a:avLst/>
          </a:prstGeom>
          <a:noFill/>
        </p:spPr>
        <p:txBody>
          <a:bodyPr wrap="square" lIns="100584" rIns="100584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C6DB5"/>
                </a:solidFill>
                <a:latin typeface="Arial"/>
              </a:rPr>
              <a:t>Economic</a:t>
            </a:r>
          </a:p>
          <a:p>
            <a:pPr>
              <a:lnSpc>
                <a:spcPct val="104000"/>
              </a:lnSpc>
            </a:pPr>
            <a:r>
              <a:rPr sz="940" b="0">
                <a:solidFill>
                  <a:srgbClr val="14212B"/>
                </a:solidFill>
                <a:latin typeface="Arial"/>
              </a:rPr>
              <a:t>Zero marginal hardware — it runs on phones riders already own. No dongle per vehicle, no factory INS, no leaky-feeder per tunnel. Fewer missed exits and failed deliveries on the same fleet.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5266944" y="2816352"/>
            <a:ext cx="3168396" cy="1115568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5266944" y="2862072"/>
            <a:ext cx="3168396" cy="1024128"/>
          </a:xfrm>
          <a:prstGeom prst="rect">
            <a:avLst/>
          </a:prstGeom>
          <a:noFill/>
        </p:spPr>
        <p:txBody>
          <a:bodyPr wrap="square" lIns="100584" rIns="100584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E8761F"/>
                </a:solidFill>
                <a:latin typeface="Arial"/>
              </a:rPr>
              <a:t>Environmental</a:t>
            </a:r>
          </a:p>
          <a:p>
            <a:pPr>
              <a:lnSpc>
                <a:spcPct val="104000"/>
              </a:lnSpc>
            </a:pPr>
            <a:r>
              <a:rPr sz="940" b="0">
                <a:solidFill>
                  <a:srgbClr val="14212B"/>
                </a:solidFill>
                <a:latin typeface="Arial"/>
              </a:rPr>
              <a:t>A missed exit is wasted kilometres, fuel and emissions; removing the cause removes all three. Entirely on-device, so no roadside infrastructure is built, powered or maintained.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8636508" y="2816352"/>
            <a:ext cx="3168396" cy="1115568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8636508" y="2862072"/>
            <a:ext cx="3168396" cy="1024128"/>
          </a:xfrm>
          <a:prstGeom prst="rect">
            <a:avLst/>
          </a:prstGeom>
          <a:noFill/>
        </p:spPr>
        <p:txBody>
          <a:bodyPr wrap="square" lIns="100584" rIns="100584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4375F"/>
                </a:solidFill>
                <a:latin typeface="Arial"/>
              </a:rPr>
              <a:t>Strategic</a:t>
            </a:r>
          </a:p>
          <a:p>
            <a:pPr>
              <a:lnSpc>
                <a:spcPct val="104000"/>
              </a:lnSpc>
            </a:pPr>
            <a:r>
              <a:rPr sz="940" b="0">
                <a:solidFill>
                  <a:srgbClr val="14212B"/>
                </a:solidFill>
                <a:latin typeface="Arial"/>
              </a:rPr>
              <a:t>Jamming- and spoofing-resilient by construction, since every channel is self-contained. Uses NavIC L5 where Indian devices expose it, runs fully offline, keeps data on the phone.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5266944" y="4206240"/>
            <a:ext cx="2081784" cy="1335024"/>
          </a:xfrm>
          <a:prstGeom prst="rect">
            <a:avLst/>
          </a:prstGeom>
          <a:solidFill>
            <a:srgbClr val="FFFFFF"/>
          </a:solidFill>
          <a:ln w="1778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5266944" y="4270248"/>
            <a:ext cx="2081784" cy="1207008"/>
          </a:xfrm>
          <a:prstGeom prst="rect">
            <a:avLst/>
          </a:prstGeom>
          <a:noFill/>
        </p:spPr>
        <p:txBody>
          <a:bodyPr wrap="square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19" b="1">
                <a:solidFill>
                  <a:srgbClr val="5B6E78"/>
                </a:solidFill>
                <a:latin typeface="Arial"/>
              </a:rPr>
              <a:t>Pure inertial</a:t>
            </a:r>
          </a:p>
          <a:p>
            <a:pPr>
              <a:lnSpc>
                <a:spcPct val="90000"/>
              </a:lnSpc>
              <a:spcAft>
                <a:spcPts val="300"/>
              </a:spcAft>
            </a:pPr>
            <a:r>
              <a:rPr sz="3100" b="1">
                <a:solidFill>
                  <a:srgbClr val="B3261E"/>
                </a:solidFill>
                <a:latin typeface="Arial"/>
              </a:rPr>
              <a:t>180 m</a:t>
            </a:r>
          </a:p>
          <a:p>
            <a:pPr>
              <a:lnSpc>
                <a:spcPct val="102000"/>
              </a:lnSpc>
            </a:pPr>
            <a:r>
              <a:rPr sz="860" b="0">
                <a:solidFill>
                  <a:srgbClr val="14212B"/>
                </a:solidFill>
                <a:latin typeface="Arial"/>
              </a:rPr>
              <a:t>½·b·t² — a block away after one minute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7495032" y="4206240"/>
            <a:ext cx="2081784" cy="1335024"/>
          </a:xfrm>
          <a:prstGeom prst="rect">
            <a:avLst/>
          </a:prstGeom>
          <a:solidFill>
            <a:srgbClr val="FFFFFF"/>
          </a:solidFill>
          <a:ln w="17780">
            <a:solidFill>
              <a:srgbClr val="E87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7495032" y="4270248"/>
            <a:ext cx="2081784" cy="1207008"/>
          </a:xfrm>
          <a:prstGeom prst="rect">
            <a:avLst/>
          </a:prstGeom>
          <a:noFill/>
        </p:spPr>
        <p:txBody>
          <a:bodyPr wrap="square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19" b="1">
                <a:solidFill>
                  <a:srgbClr val="5B6E78"/>
                </a:solidFill>
                <a:latin typeface="Arial"/>
              </a:rPr>
              <a:t>Best published</a:t>
            </a:r>
          </a:p>
          <a:p>
            <a:pPr>
              <a:lnSpc>
                <a:spcPct val="90000"/>
              </a:lnSpc>
              <a:spcAft>
                <a:spcPts val="300"/>
              </a:spcAft>
            </a:pPr>
            <a:r>
              <a:rPr sz="3100" b="1">
                <a:solidFill>
                  <a:srgbClr val="E8761F"/>
                </a:solidFill>
                <a:latin typeface="Arial"/>
              </a:rPr>
              <a:t>31 m</a:t>
            </a:r>
          </a:p>
          <a:p>
            <a:pPr>
              <a:lnSpc>
                <a:spcPct val="102000"/>
              </a:lnSpc>
            </a:pPr>
            <a:r>
              <a:rPr sz="860" b="0">
                <a:solidFill>
                  <a:srgbClr val="14212B"/>
                </a:solidFill>
                <a:latin typeface="Arial"/>
              </a:rPr>
              <a:t>3.1 % per km, INS + NHC in a real tunnel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9723120" y="4206240"/>
            <a:ext cx="2081784" cy="1335024"/>
          </a:xfrm>
          <a:prstGeom prst="rect">
            <a:avLst/>
          </a:prstGeom>
          <a:solidFill>
            <a:srgbClr val="FFFFFF"/>
          </a:solidFill>
          <a:ln w="17780">
            <a:solidFill>
              <a:srgbClr val="1B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9723120" y="4270248"/>
            <a:ext cx="2081784" cy="1207008"/>
          </a:xfrm>
          <a:prstGeom prst="rect">
            <a:avLst/>
          </a:prstGeom>
          <a:noFill/>
        </p:spPr>
        <p:txBody>
          <a:bodyPr wrap="square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19" b="1">
                <a:solidFill>
                  <a:srgbClr val="5B6E78"/>
                </a:solidFill>
                <a:latin typeface="Arial"/>
              </a:rPr>
              <a:t>SETU target</a:t>
            </a:r>
          </a:p>
          <a:p>
            <a:pPr>
              <a:lnSpc>
                <a:spcPct val="90000"/>
              </a:lnSpc>
              <a:spcAft>
                <a:spcPts val="300"/>
              </a:spcAft>
            </a:pPr>
            <a:r>
              <a:rPr sz="3100" b="1">
                <a:solidFill>
                  <a:srgbClr val="1B8A4C"/>
                </a:solidFill>
                <a:latin typeface="Arial"/>
              </a:rPr>
              <a:t>8–15 m</a:t>
            </a:r>
          </a:p>
          <a:p>
            <a:pPr>
              <a:lnSpc>
                <a:spcPct val="102000"/>
              </a:lnSpc>
            </a:pPr>
            <a:r>
              <a:rPr sz="860" b="0">
                <a:solidFill>
                  <a:srgbClr val="14212B"/>
                </a:solidFill>
                <a:latin typeface="Arial"/>
              </a:rPr>
              <a:t>0.8–1.5 % per km, anchored to map and field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266944" y="5596127"/>
            <a:ext cx="653796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B6E78"/>
                </a:solidFill>
                <a:latin typeface="Arial"/>
              </a:rPr>
              <a:t>Horizontal drift over a 1 km blackout at 60 km/h. The SIH ceiling is 10 % — 100 m.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5266944" y="5907024"/>
            <a:ext cx="6537960" cy="475488"/>
          </a:xfrm>
          <a:prstGeom prst="rect">
            <a:avLst/>
          </a:prstGeom>
          <a:solidFill>
            <a:srgbClr val="E8EFF3"/>
          </a:solidFill>
          <a:ln w="12700">
            <a:solidFill>
              <a:srgbClr val="143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5266944" y="5907024"/>
            <a:ext cx="6537960" cy="475488"/>
          </a:xfrm>
          <a:prstGeom prst="rect">
            <a:avLst/>
          </a:prstGeom>
          <a:noFill/>
        </p:spPr>
        <p:txBody>
          <a:bodyPr wrap="square" lIns="109728" rIns="109728" tIns="9144" bIns="9144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14375F"/>
                </a:solidFill>
                <a:latin typeface="Arial"/>
              </a:rPr>
              <a:t>Reach</a:t>
            </a:r>
            <a:r>
              <a:rPr sz="919" b="0">
                <a:solidFill>
                  <a:srgbClr val="14212B"/>
                </a:solidFill>
                <a:latin typeface="Arial"/>
              </a:rPr>
              <a:t>     any Android phone already on the dashboard — no purchase, no fitting, no connectivity. The same engine serves a FOG-grade edge unit at 200 Hz.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14375F"/>
                </a:solidFill>
                <a:latin typeface="Arial"/>
              </a:rPr>
              <a:t>Sanskari</a:t>
            </a:r>
            <a:endParaRPr lang="en-IN" dirty="0"/>
          </a:p>
          <a:p>
            <a:pPr algn="ctr">
              <a:lnSpc>
                <a:spcPct val="92000"/>
              </a:lnSpc>
            </a:pPr>
            <a:r>
              <a:rPr sz="1000" b="1">
                <a:solidFill>
                  <a:srgbClr val="0C6DB5"/>
                </a:solidFill>
                <a:latin typeface="Consolas"/>
              </a:rPr>
              <a:t>&lt;CODERS&gt;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70432"/>
            <a:ext cx="1142085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Details / Links of the reference and research work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384048" y="1435608"/>
            <a:ext cx="11420856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384048" y="1609344"/>
            <a:ext cx="3660647" cy="43891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80" b="1">
                <a:solidFill>
                  <a:srgbClr val="0C6DB5"/>
                </a:solidFill>
                <a:latin typeface="Arial"/>
              </a:rPr>
              <a:t>DATASET AND BENCHMARK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IO-VNBD: Inertial &amp; Odometry Benchmark Dataset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Data in Brief 35:106885, 2021 · github.com/onyekpeu/IO-VNBD · arXiv:2005.01701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WhONet: Wheel Odometry Neural Network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Eng. Appl. of AI, 2021 · arXiv:2104.02581 — our privileged upper bound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R-WhONet: recalibration by transfer learning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arXiv:2209.05877 — evidence of cross-vehicle domain shift</a:t>
            </a:r>
          </a:p>
          <a:p>
            <a:pPr>
              <a:lnSpc>
                <a:spcPct val="100000"/>
              </a:lnSpc>
              <a:spcBef>
                <a:spcPts val="1300"/>
              </a:spcBef>
              <a:spcAft>
                <a:spcPts val="500"/>
              </a:spcAft>
            </a:pPr>
            <a:r>
              <a:rPr sz="980" b="1">
                <a:solidFill>
                  <a:srgbClr val="0C6DB5"/>
                </a:solidFill>
                <a:latin typeface="Arial"/>
              </a:rPr>
              <a:t>LEARNED INERTIAL ODOMETRY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Deep Learning for Inertial Positioning: A Survey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Chen &amp; Pan · IEEE T-ITS, 2024 · arXiv:2303.03757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Inertial Navigation Meets Deep Learning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Cohen &amp; Klein · 2024 · arXiv:2307.00014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AI-IMU Dead-Reckoning — invariant EKF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Brossard, Barrau &amp; Bonnabel · IEEE T-IV, 2020 · arXiv:1904.06064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TLIO: Tight Learned Inertial Odometry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Liu et al. · IEEE RA-L, 2020 · arXiv:2007.01867 — learned covariance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OdoNet: untethered speed aiding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arXiv:2109.03091 · 68 % error reduction over NHC alone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CarSpeedNet: accelerometer-only speed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arXiv:2401.07468 · &lt;0.72 m/s ≈ 4.3 % — the accuracy to beat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264152" y="1609344"/>
            <a:ext cx="3660647" cy="43891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80" b="1">
                <a:solidFill>
                  <a:srgbClr val="0C6DB5"/>
                </a:solidFill>
                <a:latin typeface="Arial"/>
              </a:rPr>
              <a:t>LEARNED AND ADAPTIVE FUSION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KalmanNet: NN-aided Kalman filtering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Revach, Shlezinger, van Sloun &amp; Eldar · IEEE TSP, 2022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A-KIT: Adaptive Kalman-Informed Transformer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arXiv:2401.09987 · github.com/ansfl/A-KIT — learned process noise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PiDR: Physics-Informed Inertial Dead Reckoning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Sahoo &amp; Klein · 2026 · arXiv:2601.03040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Differentiable particle filters, semi-supervised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arXiv:2011.05748 — end-to-end learning with algorithmic priors</a:t>
            </a:r>
          </a:p>
          <a:p>
            <a:pPr>
              <a:lnSpc>
                <a:spcPct val="100000"/>
              </a:lnSpc>
              <a:spcBef>
                <a:spcPts val="1300"/>
              </a:spcBef>
              <a:spcAft>
                <a:spcPts val="500"/>
              </a:spcAft>
            </a:pPr>
            <a:r>
              <a:rPr sz="980" b="1">
                <a:solidFill>
                  <a:srgbClr val="0C6DB5"/>
                </a:solidFill>
                <a:latin typeface="Arial"/>
              </a:rPr>
              <a:t>MAP MATCHING AND CONSTRAINTS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Hidden Markov Map Matching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Newson &amp; Krumm · ACM SIGSPATIAL, 2009 — the baseline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Heading–length sequence matching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arXiv:2005.13704 — nearest prior art to CSA; needs a known speed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Map-aided dead reckoning from OBD speed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arXiv:1611.07910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Lever-arm accuracy of the non-holonomic constraint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Zhang &amp; Hu · IEEE TVT, 2020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NHC-assisted GNSS/SINS with motion-state CNN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GPS Solutions, 2023 · doi 10.1007/s10291-023-01483-9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144256" y="1609344"/>
            <a:ext cx="3660647" cy="43891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80" b="1">
                <a:solidFill>
                  <a:srgbClr val="0C6DB5"/>
                </a:solidFill>
                <a:latin typeface="Arial"/>
              </a:rPr>
              <a:t>SPECTRAL SPEED AND FIELD ANCHORS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Vehicle Speed Tracking Using Chassis Vibrations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Linköping University, 2016 — axle-order tracking, motivates tunnels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Accelerometer-based wheel odometer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Sensors, 2021 · PMC7918720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Magnetic positioning in a long tunnel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Applied Sciences 11(24):11641, 2021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Vehicle positioning in tunnels: a review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Complex &amp; Intelligent Systems, 2025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Barometric floor detection on smartphones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Sensors, 2015 · PMC4431287 — basis for the parking-level anchor</a:t>
            </a:r>
          </a:p>
          <a:p>
            <a:pPr>
              <a:lnSpc>
                <a:spcPct val="100000"/>
              </a:lnSpc>
              <a:spcBef>
                <a:spcPts val="1300"/>
              </a:spcBef>
              <a:spcAft>
                <a:spcPts val="500"/>
              </a:spcAft>
            </a:pPr>
            <a:r>
              <a:rPr sz="980" b="1">
                <a:solidFill>
                  <a:srgbClr val="0C6DB5"/>
                </a:solidFill>
                <a:latin typeface="Arial"/>
              </a:rPr>
              <a:t>GNSS INTEGRITY AND PLATFORM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Vehicle positioning underground using a smartphone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ISPRS Archives XLVI-3/W1, 2022 — the 3.1 %/km reference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GNSS multipath detection by machine learning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Hsu · IEEE ITSC, 2017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Android GnssMeasurement HAL — raw observables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source.android.com · pseudorange, Doppler, C/N₀, AGC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>
                <a:solidFill>
                  <a:srgbClr val="14212B"/>
                </a:solidFill>
                <a:latin typeface="Arial"/>
              </a:rPr>
              <a:t>u-blox Untethered Dead Reckoning (UDR)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>
                <a:solidFill>
                  <a:srgbClr val="5B6E78"/>
                </a:solidFill>
                <a:latin typeface="Arial"/>
              </a:rPr>
              <a:t>u-blox.com — the closest commercial analogue, on dedicated hardware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384048" y="6016752"/>
            <a:ext cx="11420856" cy="0"/>
          </a:xfrm>
          <a:prstGeom prst="line">
            <a:avLst/>
          </a:prstGeom>
          <a:ln w="12700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TextBox 17415"/>
          <p:cNvSpPr txBox="1"/>
          <p:nvPr/>
        </p:nvSpPr>
        <p:spPr>
          <a:xfrm>
            <a:off x="384048" y="6044184"/>
            <a:ext cx="11420856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>
              <a:lnSpc>
                <a:spcPct val="100000"/>
              </a:lnSpc>
            </a:pPr>
            <a:r>
              <a:rPr sz="860" b="0">
                <a:solidFill>
                  <a:srgbClr val="5B6E78"/>
                </a:solidFill>
                <a:latin typeface="Arial"/>
              </a:rPr>
              <a:t>A 66-entry annotated bibliography, with a prior-art positioning table for each of the five mechanisms, is maintained alongside the implementation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