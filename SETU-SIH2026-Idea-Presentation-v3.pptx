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F5E0B-6FD5-4BFA-B015-3318331CA23A}" v="3" dt="2026-09-02T17:51:35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Jain" userId="7ca53f56607dfbad" providerId="LiveId" clId="{7E5203B3-977C-4014-B266-5DC541A37624}"/>
    <pc:docChg chg="undo custSel modSld">
      <pc:chgData name="Lakshya Jain" userId="7ca53f56607dfbad" providerId="LiveId" clId="{7E5203B3-977C-4014-B266-5DC541A37624}" dt="2026-09-02T17:56:23.991" v="92" actId="20577"/>
      <pc:docMkLst>
        <pc:docMk/>
      </pc:docMkLst>
      <pc:sldChg chg="modSp mod">
        <pc:chgData name="Lakshya Jain" userId="7ca53f56607dfbad" providerId="LiveId" clId="{7E5203B3-977C-4014-B266-5DC541A37624}" dt="2026-09-02T17:55:14.529" v="83" actId="1076"/>
        <pc:sldMkLst>
          <pc:docMk/>
          <pc:sldMk cId="0" sldId="281"/>
        </pc:sldMkLst>
        <pc:spChg chg="mod">
          <ac:chgData name="Lakshya Jain" userId="7ca53f56607dfbad" providerId="LiveId" clId="{7E5203B3-977C-4014-B266-5DC541A37624}" dt="2026-09-02T17:55:14.529" v="83" actId="1076"/>
          <ac:spMkLst>
            <pc:docMk/>
            <pc:sldMk cId="0" sldId="281"/>
            <ac:spMk id="15361" creationId="{00000000-0000-0000-0000-000000000000}"/>
          </ac:spMkLst>
        </pc:spChg>
      </pc:sldChg>
      <pc:sldChg chg="modSp mod">
        <pc:chgData name="Lakshya Jain" userId="7ca53f56607dfbad" providerId="LiveId" clId="{7E5203B3-977C-4014-B266-5DC541A37624}" dt="2026-09-02T17:54:57.304" v="82" actId="1076"/>
        <pc:sldMkLst>
          <pc:docMk/>
          <pc:sldMk cId="0" sldId="290"/>
        </pc:sldMkLst>
        <pc:spChg chg="mod">
          <ac:chgData name="Lakshya Jain" userId="7ca53f56607dfbad" providerId="LiveId" clId="{7E5203B3-977C-4014-B266-5DC541A37624}" dt="2026-09-02T17:54:57.304" v="82" actId="1076"/>
          <ac:spMkLst>
            <pc:docMk/>
            <pc:sldMk cId="0" sldId="290"/>
            <ac:spMk id="17416" creationId="{00000000-0000-0000-0000-000000000000}"/>
          </ac:spMkLst>
        </pc:spChg>
      </pc:sldChg>
      <pc:sldChg chg="delSp modSp mod">
        <pc:chgData name="Lakshya Jain" userId="7ca53f56607dfbad" providerId="LiveId" clId="{7E5203B3-977C-4014-B266-5DC541A37624}" dt="2026-09-02T17:56:23.991" v="92" actId="20577"/>
        <pc:sldMkLst>
          <pc:docMk/>
          <pc:sldMk cId="0" sldId="291"/>
        </pc:sldMkLst>
        <pc:spChg chg="mod">
          <ac:chgData name="Lakshya Jain" userId="7ca53f56607dfbad" providerId="LiveId" clId="{7E5203B3-977C-4014-B266-5DC541A37624}" dt="2026-09-02T17:55:57.107" v="89" actId="1076"/>
          <ac:spMkLst>
            <pc:docMk/>
            <pc:sldMk cId="0" sldId="291"/>
            <ac:spMk id="4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6:23.991" v="92" actId="20577"/>
          <ac:spMkLst>
            <pc:docMk/>
            <pc:sldMk cId="0" sldId="291"/>
            <ac:spMk id="38" creationId="{00000000-0000-0000-0000-000000000000}"/>
          </ac:spMkLst>
        </pc:spChg>
        <pc:spChg chg="del mod">
          <ac:chgData name="Lakshya Jain" userId="7ca53f56607dfbad" providerId="LiveId" clId="{7E5203B3-977C-4014-B266-5DC541A37624}" dt="2026-09-02T17:50:40.565" v="3" actId="478"/>
          <ac:spMkLst>
            <pc:docMk/>
            <pc:sldMk cId="0" sldId="291"/>
            <ac:spMk id="39" creationId="{00000000-0000-0000-0000-000000000000}"/>
          </ac:spMkLst>
        </pc:spChg>
        <pc:spChg chg="del">
          <ac:chgData name="Lakshya Jain" userId="7ca53f56607dfbad" providerId="LiveId" clId="{7E5203B3-977C-4014-B266-5DC541A37624}" dt="2026-09-02T17:50:39.962" v="2" actId="478"/>
          <ac:spMkLst>
            <pc:docMk/>
            <pc:sldMk cId="0" sldId="291"/>
            <ac:spMk id="40" creationId="{00000000-0000-0000-0000-000000000000}"/>
          </ac:spMkLst>
        </pc:spChg>
        <pc:spChg chg="del mod">
          <ac:chgData name="Lakshya Jain" userId="7ca53f56607dfbad" providerId="LiveId" clId="{7E5203B3-977C-4014-B266-5DC541A37624}" dt="2026-09-02T17:50:43.061" v="6" actId="478"/>
          <ac:spMkLst>
            <pc:docMk/>
            <pc:sldMk cId="0" sldId="291"/>
            <ac:spMk id="42" creationId="{00000000-0000-0000-0000-000000000000}"/>
          </ac:spMkLst>
        </pc:spChg>
        <pc:picChg chg="mod">
          <ac:chgData name="Lakshya Jain" userId="7ca53f56607dfbad" providerId="LiveId" clId="{7E5203B3-977C-4014-B266-5DC541A37624}" dt="2026-09-02T17:51:03.811" v="11" actId="1076"/>
          <ac:picMkLst>
            <pc:docMk/>
            <pc:sldMk cId="0" sldId="291"/>
            <ac:picMk id="5" creationId="{9120848B-B2B4-45BE-A961-AEC0B06CF41B}"/>
          </ac:picMkLst>
        </pc:picChg>
        <pc:cxnChg chg="del">
          <ac:chgData name="Lakshya Jain" userId="7ca53f56607dfbad" providerId="LiveId" clId="{7E5203B3-977C-4014-B266-5DC541A37624}" dt="2026-09-02T17:50:44.141" v="7" actId="478"/>
          <ac:cxnSpMkLst>
            <pc:docMk/>
            <pc:sldMk cId="0" sldId="291"/>
            <ac:cxnSpMk id="41" creationId="{00000000-0000-0000-0000-000000000000}"/>
          </ac:cxnSpMkLst>
        </pc:cxnChg>
      </pc:sldChg>
      <pc:sldChg chg="modSp mod">
        <pc:chgData name="Lakshya Jain" userId="7ca53f56607dfbad" providerId="LiveId" clId="{7E5203B3-977C-4014-B266-5DC541A37624}" dt="2026-09-02T17:53:45.501" v="66" actId="12"/>
        <pc:sldMkLst>
          <pc:docMk/>
          <pc:sldMk cId="2997144140" sldId="294"/>
        </pc:sldMkLst>
        <pc:spChg chg="mod">
          <ac:chgData name="Lakshya Jain" userId="7ca53f56607dfbad" providerId="LiveId" clId="{7E5203B3-977C-4014-B266-5DC541A37624}" dt="2026-09-02T17:53:45.501" v="66" actId="12"/>
          <ac:spMkLst>
            <pc:docMk/>
            <pc:sldMk cId="2997144140" sldId="294"/>
            <ac:spMk id="17412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45.501" v="66" actId="12"/>
          <ac:spMkLst>
            <pc:docMk/>
            <pc:sldMk cId="2997144140" sldId="294"/>
            <ac:spMk id="17413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45.501" v="66" actId="12"/>
          <ac:spMkLst>
            <pc:docMk/>
            <pc:sldMk cId="2997144140" sldId="294"/>
            <ac:spMk id="17414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45.501" v="66" actId="12"/>
          <ac:spMkLst>
            <pc:docMk/>
            <pc:sldMk cId="2997144140" sldId="294"/>
            <ac:spMk id="17415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45.501" v="66" actId="12"/>
          <ac:spMkLst>
            <pc:docMk/>
            <pc:sldMk cId="2997144140" sldId="294"/>
            <ac:spMk id="17416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45.501" v="66" actId="12"/>
          <ac:spMkLst>
            <pc:docMk/>
            <pc:sldMk cId="2997144140" sldId="294"/>
            <ac:spMk id="17417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29.900" v="62" actId="403"/>
          <ac:spMkLst>
            <pc:docMk/>
            <pc:sldMk cId="2997144140" sldId="294"/>
            <ac:spMk id="17419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2:54.806" v="57" actId="403"/>
          <ac:spMkLst>
            <pc:docMk/>
            <pc:sldMk cId="2997144140" sldId="294"/>
            <ac:spMk id="17423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09.231" v="60" actId="404"/>
          <ac:spMkLst>
            <pc:docMk/>
            <pc:sldMk cId="2997144140" sldId="294"/>
            <ac:spMk id="17425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09.231" v="60" actId="404"/>
          <ac:spMkLst>
            <pc:docMk/>
            <pc:sldMk cId="2997144140" sldId="294"/>
            <ac:spMk id="17427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3:09.231" v="60" actId="404"/>
          <ac:spMkLst>
            <pc:docMk/>
            <pc:sldMk cId="2997144140" sldId="294"/>
            <ac:spMk id="17429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2:43.975" v="56" actId="1076"/>
          <ac:spMkLst>
            <pc:docMk/>
            <pc:sldMk cId="2997144140" sldId="294"/>
            <ac:spMk id="17437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2:42.124" v="55" actId="1076"/>
          <ac:spMkLst>
            <pc:docMk/>
            <pc:sldMk cId="2997144140" sldId="294"/>
            <ac:spMk id="17438" creationId="{00000000-0000-0000-0000-000000000000}"/>
          </ac:spMkLst>
        </pc:spChg>
      </pc:sldChg>
      <pc:sldChg chg="addSp delSp modSp mod">
        <pc:chgData name="Lakshya Jain" userId="7ca53f56607dfbad" providerId="LiveId" clId="{7E5203B3-977C-4014-B266-5DC541A37624}" dt="2026-09-02T17:54:11.996" v="74" actId="478"/>
        <pc:sldMkLst>
          <pc:docMk/>
          <pc:sldMk cId="3916788613" sldId="296"/>
        </pc:sldMkLst>
        <pc:spChg chg="mod">
          <ac:chgData name="Lakshya Jain" userId="7ca53f56607dfbad" providerId="LiveId" clId="{7E5203B3-977C-4014-B266-5DC541A37624}" dt="2026-09-02T17:54:01.456" v="68" actId="403"/>
          <ac:spMkLst>
            <pc:docMk/>
            <pc:sldMk cId="3916788613" sldId="296"/>
            <ac:spMk id="17412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4:01.456" v="68" actId="403"/>
          <ac:spMkLst>
            <pc:docMk/>
            <pc:sldMk cId="3916788613" sldId="296"/>
            <ac:spMk id="17413" creationId="{00000000-0000-0000-0000-000000000000}"/>
          </ac:spMkLst>
        </pc:spChg>
        <pc:spChg chg="mod">
          <ac:chgData name="Lakshya Jain" userId="7ca53f56607dfbad" providerId="LiveId" clId="{7E5203B3-977C-4014-B266-5DC541A37624}" dt="2026-09-02T17:54:01.456" v="68" actId="403"/>
          <ac:spMkLst>
            <pc:docMk/>
            <pc:sldMk cId="3916788613" sldId="296"/>
            <ac:spMk id="17414" creationId="{00000000-0000-0000-0000-000000000000}"/>
          </ac:spMkLst>
        </pc:spChg>
        <pc:spChg chg="add del mod">
          <ac:chgData name="Lakshya Jain" userId="7ca53f56607dfbad" providerId="LiveId" clId="{7E5203B3-977C-4014-B266-5DC541A37624}" dt="2026-09-02T17:54:09.889" v="73" actId="47"/>
          <ac:spMkLst>
            <pc:docMk/>
            <pc:sldMk cId="3916788613" sldId="296"/>
            <ac:spMk id="17416" creationId="{00000000-0000-0000-0000-000000000000}"/>
          </ac:spMkLst>
        </pc:spChg>
        <pc:cxnChg chg="add del">
          <ac:chgData name="Lakshya Jain" userId="7ca53f56607dfbad" providerId="LiveId" clId="{7E5203B3-977C-4014-B266-5DC541A37624}" dt="2026-09-02T17:54:11.996" v="74" actId="478"/>
          <ac:cxnSpMkLst>
            <pc:docMk/>
            <pc:sldMk cId="3916788613" sldId="296"/>
            <ac:cxnSpMk id="17415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07645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36172" y="349919"/>
            <a:ext cx="7116607" cy="1427836"/>
          </a:xfrm>
        </p:spPr>
        <p:txBody>
          <a:bodyPr/>
          <a:lstStyle/>
          <a:p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b="1" dirty="0">
                <a:solidFill>
                  <a:srgbClr val="14375F"/>
                </a:solidFill>
                <a:latin typeface="Times New Roman"/>
              </a:rPr>
              <a:t>SETU · INTELLIGENT DEAD RECKONING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84048" y="1920240"/>
            <a:ext cx="6126480" cy="264226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 dirty="0">
                <a:solidFill>
                  <a:srgbClr val="14375F"/>
                </a:solidFill>
                <a:latin typeface="Arial"/>
              </a:rPr>
              <a:t>Problem Statement ID –  </a:t>
            </a:r>
            <a:r>
              <a:rPr sz="1900" b="0" dirty="0">
                <a:solidFill>
                  <a:srgbClr val="14212B"/>
                </a:solidFill>
                <a:latin typeface="Arial"/>
              </a:rPr>
              <a:t>SIH26168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 dirty="0">
                <a:solidFill>
                  <a:srgbClr val="14375F"/>
                </a:solidFill>
                <a:latin typeface="Arial"/>
              </a:rPr>
              <a:t>Problem Statement Title-  </a:t>
            </a:r>
            <a:r>
              <a:rPr sz="1900" b="0" dirty="0">
                <a:solidFill>
                  <a:srgbClr val="14212B"/>
                </a:solidFill>
                <a:latin typeface="Arial"/>
              </a:rPr>
              <a:t>AI-ML based Intelligent Dead Reckoning system for seamless navigation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 dirty="0">
                <a:solidFill>
                  <a:srgbClr val="14375F"/>
                </a:solidFill>
                <a:latin typeface="Arial"/>
              </a:rPr>
              <a:t>Theme-  </a:t>
            </a:r>
            <a:r>
              <a:rPr sz="1900" b="0" dirty="0">
                <a:solidFill>
                  <a:srgbClr val="14212B"/>
                </a:solidFill>
                <a:latin typeface="Arial"/>
              </a:rPr>
              <a:t>Smart Vehicles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 dirty="0">
                <a:solidFill>
                  <a:srgbClr val="14375F"/>
                </a:solidFill>
                <a:latin typeface="Arial"/>
              </a:rPr>
              <a:t>PS Category-  </a:t>
            </a:r>
            <a:r>
              <a:rPr sz="1900" b="0" dirty="0">
                <a:solidFill>
                  <a:srgbClr val="14212B"/>
                </a:solidFill>
                <a:latin typeface="Arial"/>
              </a:rPr>
              <a:t>Software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900" b="1" dirty="0">
                <a:solidFill>
                  <a:srgbClr val="14375F"/>
                </a:solidFill>
                <a:latin typeface="Arial"/>
              </a:rPr>
              <a:t>Team ID- </a:t>
            </a:r>
            <a:r>
              <a:rPr lang="en-IN" sz="1900" dirty="0">
                <a:solidFill>
                  <a:srgbClr val="14212B"/>
                </a:solidFill>
                <a:latin typeface="Arial"/>
              </a:rPr>
              <a:t>N/A</a:t>
            </a:r>
            <a:endParaRPr lang="en-IN" sz="1900" b="1" dirty="0">
              <a:solidFill>
                <a:srgbClr val="14375F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lang="en-IN" sz="1900" b="1" dirty="0">
                <a:solidFill>
                  <a:srgbClr val="14375F"/>
                </a:solidFill>
                <a:latin typeface="Arial"/>
              </a:rPr>
              <a:t>Team Name - </a:t>
            </a:r>
            <a:r>
              <a:rPr lang="en-IN" sz="1900" b="0" dirty="0" err="1">
                <a:solidFill>
                  <a:srgbClr val="14212B"/>
                </a:solidFill>
                <a:latin typeface="Arial"/>
              </a:rPr>
              <a:t>Sanskari</a:t>
            </a:r>
            <a:r>
              <a:rPr lang="en-IN" sz="1900" b="0" dirty="0">
                <a:solidFill>
                  <a:srgbClr val="14212B"/>
                </a:solidFill>
                <a:latin typeface="Arial"/>
              </a:rPr>
              <a:t>&lt;CODERS&gt;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6355080"/>
            <a:ext cx="11457432" cy="5029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D6E3EC"/>
                </a:solidFill>
                <a:latin typeface="Arial"/>
              </a:rPr>
              <a:t>TEAM  </a:t>
            </a:r>
            <a:r>
              <a:rPr sz="1200" b="1">
                <a:solidFill>
                  <a:srgbClr val="FFFFFF"/>
                </a:solidFill>
                <a:latin typeface="Arial"/>
              </a:rPr>
              <a:t>Sanskari&lt;CODERS&gt;</a:t>
            </a:r>
            <a:r>
              <a:rPr sz="1100" b="0">
                <a:solidFill>
                  <a:srgbClr val="FFFFFF"/>
                </a:solidFill>
                <a:latin typeface="Arial"/>
              </a:rPr>
              <a:t>      </a:t>
            </a:r>
            <a:r>
              <a:rPr sz="1050" b="1">
                <a:solidFill>
                  <a:srgbClr val="FFFFFF"/>
                </a:solidFill>
                <a:latin typeface="Arial"/>
              </a:rPr>
              <a:t>Lakshya Jain</a:t>
            </a:r>
            <a:r>
              <a:rPr sz="1050" b="0">
                <a:solidFill>
                  <a:srgbClr val="D6E3EC"/>
                </a:solidFill>
                <a:latin typeface="Arial"/>
              </a:rPr>
              <a:t> (Team Leader)  ·  </a:t>
            </a:r>
            <a:r>
              <a:rPr sz="1050" b="1">
                <a:solidFill>
                  <a:srgbClr val="FFFFFF"/>
                </a:solidFill>
                <a:latin typeface="Arial"/>
              </a:rPr>
              <a:t>Akshit Jain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Veneya Kharkhodi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Garv Goel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Lavish Kumar</a:t>
            </a:r>
            <a:r>
              <a:rPr sz="1050" b="0">
                <a:solidFill>
                  <a:srgbClr val="D6E3EC"/>
                </a:solidFill>
                <a:latin typeface="Arial"/>
              </a:rPr>
              <a:t>  ·  </a:t>
            </a:r>
            <a:r>
              <a:rPr sz="1050" b="1">
                <a:solidFill>
                  <a:srgbClr val="FFFFFF"/>
                </a:solidFill>
                <a:latin typeface="Arial"/>
              </a:rPr>
              <a:t>Aashi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65294" y="22860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SETU — NAVIGATION WITHOUT GNSS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2000"/>
              </a:lnSpc>
            </a:pPr>
            <a:r>
              <a:rPr sz="1000" b="1" dirty="0" err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 dirty="0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84048" y="1188720"/>
            <a:ext cx="11420856" cy="58521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800" b="0">
                <a:solidFill>
                  <a:srgbClr val="14212B"/>
                </a:solidFill>
                <a:latin typeface="Arial"/>
              </a:rPr>
              <a:t>When GPS disappears, today's apps freeze, jump, or call the turn too late. </a:t>
            </a:r>
            <a:r>
              <a:rPr sz="1800" b="1">
                <a:solidFill>
                  <a:srgbClr val="14375F"/>
                </a:solidFill>
                <a:latin typeface="Arial"/>
              </a:rPr>
              <a:t>SETU keeps your position moving correctly on the map, using nothing but the sensors already inside the phone.</a:t>
            </a:r>
          </a:p>
        </p:txBody>
      </p:sp>
      <p:cxnSp>
        <p:nvCxnSpPr>
          <p:cNvPr id="15363" name="Connector 15362"/>
          <p:cNvCxnSpPr/>
          <p:nvPr/>
        </p:nvCxnSpPr>
        <p:spPr>
          <a:xfrm>
            <a:off x="384048" y="1810512"/>
            <a:ext cx="11420856" cy="0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4" name="TextBox 15363"/>
          <p:cNvSpPr txBox="1"/>
          <p:nvPr/>
        </p:nvSpPr>
        <p:spPr>
          <a:xfrm>
            <a:off x="384048" y="1865376"/>
            <a:ext cx="4663440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250" b="1">
                <a:solidFill>
                  <a:srgbClr val="14375F"/>
                </a:solidFill>
                <a:latin typeface="Arial"/>
              </a:rPr>
              <a:t>Detailed explanation of the proposed solution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384048" y="2130552"/>
            <a:ext cx="466344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Rectangle 15365"/>
          <p:cNvSpPr/>
          <p:nvPr/>
        </p:nvSpPr>
        <p:spPr>
          <a:xfrm>
            <a:off x="384048" y="2267712"/>
            <a:ext cx="4663440" cy="420624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384048" y="2267712"/>
            <a:ext cx="4663440" cy="420624"/>
          </a:xfrm>
          <a:prstGeom prst="rect">
            <a:avLst/>
          </a:prstGeom>
          <a:noFill/>
        </p:spPr>
        <p:txBody>
          <a:bodyPr wrap="square" lIns="100584" tIns="9144" rIns="100584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40" b="1">
                <a:solidFill>
                  <a:srgbClr val="14375F"/>
                </a:solidFill>
                <a:latin typeface="Arial"/>
              </a:rPr>
              <a:t>An Android app and a small on-device engine.</a:t>
            </a:r>
            <a:r>
              <a:rPr sz="1000" b="0">
                <a:solidFill>
                  <a:srgbClr val="14212B"/>
                </a:solidFill>
                <a:latin typeface="Arial"/>
              </a:rPr>
              <a:t>  No dongle, no extra hardware, no internet.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384048" y="2761488"/>
            <a:ext cx="4663440" cy="877824"/>
          </a:xfrm>
          <a:prstGeom prst="rect">
            <a:avLst/>
          </a:prstGeom>
          <a:solidFill>
            <a:srgbClr val="FFFFFF"/>
          </a:solidFill>
          <a:ln w="1397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69" name="TextBox 15368"/>
          <p:cNvSpPr txBox="1"/>
          <p:nvPr/>
        </p:nvSpPr>
        <p:spPr>
          <a:xfrm>
            <a:off x="384048" y="2798064"/>
            <a:ext cx="4663440" cy="804672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B8A4C"/>
                </a:solidFill>
                <a:latin typeface="Arial"/>
              </a:rPr>
              <a:t>The phone hears the wheels.</a:t>
            </a:r>
          </a:p>
          <a:p>
            <a:pPr>
              <a:lnSpc>
                <a:spcPct val="104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Spinning wheels shake the car, and the shake speeds up as you do. The app reads that pitch, so it measures speed instead of guessing it from acceleration — the way a mechanic listens to an engine.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384048" y="3694176"/>
            <a:ext cx="4663440" cy="877824"/>
          </a:xfrm>
          <a:prstGeom prst="rect">
            <a:avLst/>
          </a:prstGeom>
          <a:solidFill>
            <a:srgbClr val="FFFFFF"/>
          </a:solidFill>
          <a:ln w="13970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1" name="TextBox 15370"/>
          <p:cNvSpPr txBox="1"/>
          <p:nvPr/>
        </p:nvSpPr>
        <p:spPr>
          <a:xfrm>
            <a:off x="384048" y="3730752"/>
            <a:ext cx="4663440" cy="804672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E8761F"/>
                </a:solidFill>
                <a:latin typeface="Arial"/>
              </a:rPr>
              <a:t>Every turn re-checks the speed.</a:t>
            </a:r>
          </a:p>
          <a:p>
            <a:pPr>
              <a:lnSpc>
                <a:spcPct val="104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In a bend, the sideways push divided by how sharply you are turning gives the exact speed — free calibration several times a minute, and it works on a leaning two-wheeler too.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84048" y="4626864"/>
            <a:ext cx="4663440" cy="877824"/>
          </a:xfrm>
          <a:prstGeom prst="rect">
            <a:avLst/>
          </a:prstGeom>
          <a:solidFill>
            <a:srgbClr val="FFFFFF"/>
          </a:solidFill>
          <a:ln w="13970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3" name="TextBox 15372"/>
          <p:cNvSpPr txBox="1"/>
          <p:nvPr/>
        </p:nvSpPr>
        <p:spPr>
          <a:xfrm>
            <a:off x="384048" y="4663440"/>
            <a:ext cx="4663440" cy="804672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C6DB5"/>
                </a:solidFill>
                <a:latin typeface="Arial"/>
              </a:rPr>
              <a:t>The road becomes the ruler.</a:t>
            </a:r>
          </a:p>
          <a:p>
            <a:pPr>
              <a:lnSpc>
                <a:spcPct val="104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The phone knows how much it has turned; the offline map knows the shape of every road. Line the two up and your position falls into place with no satellites at all.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5266944" y="1865376"/>
            <a:ext cx="6537960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250" b="1">
                <a:solidFill>
                  <a:srgbClr val="14375F"/>
                </a:solidFill>
                <a:latin typeface="Arial"/>
              </a:rPr>
              <a:t>How it addresses the problem</a:t>
            </a:r>
          </a:p>
        </p:txBody>
      </p:sp>
      <p:cxnSp>
        <p:nvCxnSpPr>
          <p:cNvPr id="15375" name="Connector 15374"/>
          <p:cNvCxnSpPr/>
          <p:nvPr/>
        </p:nvCxnSpPr>
        <p:spPr>
          <a:xfrm>
            <a:off x="5266944" y="2130552"/>
            <a:ext cx="653796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76" name="Picture 15375" descr="fig-error-law-fl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44" y="2267712"/>
            <a:ext cx="6537960" cy="1781384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5266944" y="4140536"/>
            <a:ext cx="6537960" cy="21945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</a:pPr>
            <a:r>
              <a:rPr sz="1040" b="1">
                <a:solidFill>
                  <a:srgbClr val="14375F"/>
                </a:solidFill>
                <a:latin typeface="Arial"/>
              </a:rPr>
              <a:t>The graph answers one question: after a kilometre with no GPS, how far off are you?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5276088" y="4465148"/>
            <a:ext cx="155448" cy="91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79" name="TextBox 15378"/>
          <p:cNvSpPr txBox="1"/>
          <p:nvPr/>
        </p:nvSpPr>
        <p:spPr>
          <a:xfrm>
            <a:off x="5486400" y="4414856"/>
            <a:ext cx="6318504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2000"/>
              </a:lnSpc>
            </a:pPr>
            <a:r>
              <a:rPr sz="1019" b="1">
                <a:solidFill>
                  <a:srgbClr val="B3261E"/>
                </a:solidFill>
                <a:latin typeface="Arial"/>
              </a:rPr>
              <a:t>Pure inertial · 180 m  —  </a:t>
            </a:r>
            <a:r>
              <a:rPr sz="1019" b="0">
                <a:solidFill>
                  <a:srgbClr val="14212B"/>
                </a:solidFill>
                <a:latin typeface="Arial"/>
              </a:rPr>
              <a:t>acceleration simply added up — tiny errors compound, so you are a block away after one minute.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5276088" y="4858340"/>
            <a:ext cx="155448" cy="91440"/>
          </a:xfrm>
          <a:prstGeom prst="rect">
            <a:avLst/>
          </a:prstGeom>
          <a:solidFill>
            <a:srgbClr val="E8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1" name="TextBox 15380"/>
          <p:cNvSpPr txBox="1"/>
          <p:nvPr/>
        </p:nvSpPr>
        <p:spPr>
          <a:xfrm>
            <a:off x="5486400" y="4808048"/>
            <a:ext cx="6318504" cy="2286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2000"/>
              </a:lnSpc>
            </a:pPr>
            <a:r>
              <a:rPr sz="1019" b="1">
                <a:solidFill>
                  <a:srgbClr val="E8761F"/>
                </a:solidFill>
                <a:latin typeface="Arial"/>
              </a:rPr>
              <a:t>Best published phone result · 31 m  —  </a:t>
            </a:r>
            <a:r>
              <a:rPr sz="1019" b="0">
                <a:solidFill>
                  <a:srgbClr val="14212B"/>
                </a:solidFill>
                <a:latin typeface="Arial"/>
              </a:rPr>
              <a:t>error grows steadily with distance, 3.1 % of every kilometre.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5276088" y="5096084"/>
            <a:ext cx="155448" cy="91440"/>
          </a:xfrm>
          <a:prstGeom prst="rect">
            <a:avLst/>
          </a:prstGeom>
          <a:solidFill>
            <a:srgbClr val="1B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3" name="TextBox 15382"/>
          <p:cNvSpPr txBox="1"/>
          <p:nvPr/>
        </p:nvSpPr>
        <p:spPr>
          <a:xfrm>
            <a:off x="5486400" y="5045792"/>
            <a:ext cx="6318504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2000"/>
              </a:lnSpc>
            </a:pPr>
            <a:r>
              <a:rPr sz="1019" b="1">
                <a:solidFill>
                  <a:srgbClr val="1B8A4C"/>
                </a:solidFill>
                <a:latin typeface="Arial"/>
              </a:rPr>
              <a:t>SETU · 8.5 m  —  </a:t>
            </a:r>
            <a:r>
              <a:rPr sz="1019" b="0">
                <a:solidFill>
                  <a:srgbClr val="14212B"/>
                </a:solidFill>
                <a:latin typeface="Arial"/>
              </a:rPr>
              <a:t>the line drops each time we recognise something — a bend whose shape matches the map, or a tunnel's magnetic signature. Error is reset instead of piling up.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84048" y="5541264"/>
            <a:ext cx="11420856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250" b="1">
                <a:solidFill>
                  <a:srgbClr val="14375F"/>
                </a:solidFill>
                <a:latin typeface="Arial"/>
              </a:rPr>
              <a:t>Innovation and uniqueness of the solution</a:t>
            </a:r>
          </a:p>
        </p:txBody>
      </p:sp>
      <p:cxnSp>
        <p:nvCxnSpPr>
          <p:cNvPr id="15385" name="Connector 15384"/>
          <p:cNvCxnSpPr/>
          <p:nvPr/>
        </p:nvCxnSpPr>
        <p:spPr>
          <a:xfrm>
            <a:off x="384048" y="5806440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6" name="Rectangle 15385"/>
          <p:cNvSpPr/>
          <p:nvPr/>
        </p:nvSpPr>
        <p:spPr>
          <a:xfrm>
            <a:off x="384048" y="5888736"/>
            <a:ext cx="2196388" cy="347472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7" name="TextBox 15386"/>
          <p:cNvSpPr txBox="1"/>
          <p:nvPr/>
        </p:nvSpPr>
        <p:spPr>
          <a:xfrm>
            <a:off x="384048" y="5888736"/>
            <a:ext cx="219638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B8A4C"/>
                </a:solidFill>
                <a:latin typeface="Arial"/>
              </a:rPr>
              <a:t>N1  </a:t>
            </a:r>
            <a:r>
              <a:rPr sz="980" b="1">
                <a:solidFill>
                  <a:srgbClr val="14212B"/>
                </a:solidFill>
                <a:latin typeface="Arial"/>
              </a:rPr>
              <a:t>Speed read from frequency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2690164" y="5888736"/>
            <a:ext cx="2196388" cy="347472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89" name="TextBox 15388"/>
          <p:cNvSpPr txBox="1"/>
          <p:nvPr/>
        </p:nvSpPr>
        <p:spPr>
          <a:xfrm>
            <a:off x="2690164" y="5888736"/>
            <a:ext cx="219638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E8761F"/>
                </a:solidFill>
                <a:latin typeface="Arial"/>
              </a:rPr>
              <a:t>N2  </a:t>
            </a:r>
            <a:r>
              <a:rPr sz="980" b="1">
                <a:solidFill>
                  <a:srgbClr val="14212B"/>
                </a:solidFill>
                <a:latin typeface="Arial"/>
              </a:rPr>
              <a:t>Two-wheeler lean physics</a:t>
            </a:r>
          </a:p>
        </p:txBody>
      </p:sp>
      <p:sp>
        <p:nvSpPr>
          <p:cNvPr id="15390" name="Rectangle 15389"/>
          <p:cNvSpPr/>
          <p:nvPr/>
        </p:nvSpPr>
        <p:spPr>
          <a:xfrm>
            <a:off x="4996281" y="5888736"/>
            <a:ext cx="2196388" cy="347472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91" name="TextBox 15390"/>
          <p:cNvSpPr txBox="1"/>
          <p:nvPr/>
        </p:nvSpPr>
        <p:spPr>
          <a:xfrm>
            <a:off x="4996281" y="5888736"/>
            <a:ext cx="219638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C6DB5"/>
                </a:solidFill>
                <a:latin typeface="Arial"/>
              </a:rPr>
              <a:t>N3  </a:t>
            </a:r>
            <a:r>
              <a:rPr sz="980" b="1">
                <a:solidFill>
                  <a:srgbClr val="14212B"/>
                </a:solidFill>
                <a:latin typeface="Arial"/>
              </a:rPr>
              <a:t>Scale-free map registration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7302398" y="5888736"/>
            <a:ext cx="2196388" cy="347472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93" name="TextBox 15392"/>
          <p:cNvSpPr txBox="1"/>
          <p:nvPr/>
        </p:nvSpPr>
        <p:spPr>
          <a:xfrm>
            <a:off x="7302398" y="5888736"/>
            <a:ext cx="219638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14375F"/>
                </a:solidFill>
                <a:latin typeface="Arial"/>
              </a:rPr>
              <a:t>N4  </a:t>
            </a:r>
            <a:r>
              <a:rPr sz="980" b="1">
                <a:solidFill>
                  <a:srgbClr val="14212B"/>
                </a:solidFill>
                <a:latin typeface="Arial"/>
              </a:rPr>
              <a:t>CAN wheel speeds as teacher</a:t>
            </a:r>
          </a:p>
        </p:txBody>
      </p:sp>
      <p:sp>
        <p:nvSpPr>
          <p:cNvPr id="15394" name="Rectangle 15393"/>
          <p:cNvSpPr/>
          <p:nvPr/>
        </p:nvSpPr>
        <p:spPr>
          <a:xfrm>
            <a:off x="9608515" y="5888736"/>
            <a:ext cx="2196388" cy="347472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95" name="TextBox 15394"/>
          <p:cNvSpPr txBox="1"/>
          <p:nvPr/>
        </p:nvSpPr>
        <p:spPr>
          <a:xfrm>
            <a:off x="9608515" y="5888736"/>
            <a:ext cx="219638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B3261E"/>
                </a:solidFill>
                <a:latin typeface="Arial"/>
              </a:rPr>
              <a:t>N5  </a:t>
            </a:r>
            <a:r>
              <a:rPr sz="980" b="1">
                <a:solidFill>
                  <a:srgbClr val="14212B"/>
                </a:solidFill>
                <a:latin typeface="Arial"/>
              </a:rPr>
              <a:t>Learned σ and Q in one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11420856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Methodology and process for implementation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ectangle 17411"/>
          <p:cNvSpPr/>
          <p:nvPr/>
        </p:nvSpPr>
        <p:spPr>
          <a:xfrm>
            <a:off x="384048" y="1554480"/>
            <a:ext cx="11420856" cy="1700784"/>
          </a:xfrm>
          <a:prstGeom prst="rect">
            <a:avLst/>
          </a:prstGeom>
          <a:solidFill>
            <a:srgbClr val="FAFCFD"/>
          </a:solidFill>
          <a:ln w="1905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554480"/>
            <a:ext cx="1060704" cy="1700784"/>
          </a:xfrm>
          <a:prstGeom prst="rect">
            <a:avLst/>
          </a:prstGeom>
          <a:noFill/>
        </p:spPr>
        <p:txBody>
          <a:bodyPr wrap="square" lIns="82296" tIns="9144" rIns="82296" bIns="9144" anchor="ctr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CLIENT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RUNTIME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1B8A4C"/>
                </a:solidFill>
                <a:latin typeface="Arial"/>
              </a:rPr>
              <a:t>offline</a:t>
            </a:r>
          </a:p>
          <a:p>
            <a:pPr>
              <a:lnSpc>
                <a:spcPct val="95000"/>
              </a:lnSpc>
            </a:pPr>
            <a:r>
              <a:rPr sz="800" b="0">
                <a:solidFill>
                  <a:srgbClr val="5B6E78"/>
                </a:solidFill>
                <a:latin typeface="Arial"/>
              </a:rPr>
              <a:t>zero network calls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1444751" y="1627632"/>
            <a:ext cx="0" cy="1554480"/>
          </a:xfrm>
          <a:prstGeom prst="line">
            <a:avLst/>
          </a:prstGeom>
          <a:ln w="1143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ectangle 17414"/>
          <p:cNvSpPr/>
          <p:nvPr/>
        </p:nvSpPr>
        <p:spPr>
          <a:xfrm>
            <a:off x="384048" y="3493008"/>
            <a:ext cx="11420856" cy="676656"/>
          </a:xfrm>
          <a:prstGeom prst="rect">
            <a:avLst/>
          </a:prstGeom>
          <a:solidFill>
            <a:srgbClr val="E7F0F9"/>
          </a:solidFill>
          <a:ln w="15875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347472" y="3566160"/>
            <a:ext cx="1316736" cy="588110"/>
          </a:xfrm>
          <a:prstGeom prst="rect">
            <a:avLst/>
          </a:prstGeom>
          <a:noFill/>
        </p:spPr>
        <p:txBody>
          <a:bodyPr wrap="square" lIns="82296" tIns="9144" rIns="82296" bIns="9144" anchor="ctr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1050" b="1" dirty="0">
                <a:solidFill>
                  <a:srgbClr val="14375F"/>
                </a:solidFill>
                <a:latin typeface="Arial"/>
              </a:rPr>
              <a:t>SYNC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1050" b="1" dirty="0">
                <a:solidFill>
                  <a:srgbClr val="14375F"/>
                </a:solidFill>
                <a:latin typeface="Arial"/>
              </a:rPr>
              <a:t>PLANE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00" b="1" dirty="0">
                <a:solidFill>
                  <a:srgbClr val="0C6DB5"/>
                </a:solidFill>
                <a:latin typeface="Arial"/>
              </a:rPr>
              <a:t>out-of-band</a:t>
            </a:r>
          </a:p>
          <a:p>
            <a:pPr>
              <a:lnSpc>
                <a:spcPct val="95000"/>
              </a:lnSpc>
            </a:pPr>
            <a:r>
              <a:rPr sz="800" b="0" dirty="0">
                <a:solidFill>
                  <a:srgbClr val="5B6E78"/>
                </a:solidFill>
                <a:latin typeface="Arial"/>
              </a:rPr>
              <a:t>async, never blocking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1444751" y="3566160"/>
            <a:ext cx="0" cy="530351"/>
          </a:xfrm>
          <a:prstGeom prst="line">
            <a:avLst/>
          </a:prstGeom>
          <a:ln w="1143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ectangle 17417"/>
          <p:cNvSpPr/>
          <p:nvPr/>
        </p:nvSpPr>
        <p:spPr>
          <a:xfrm>
            <a:off x="384048" y="4407408"/>
            <a:ext cx="11420856" cy="914400"/>
          </a:xfrm>
          <a:prstGeom prst="rect">
            <a:avLst/>
          </a:prstGeom>
          <a:solidFill>
            <a:srgbClr val="FBF2E6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384048" y="4407408"/>
            <a:ext cx="1060704" cy="914400"/>
          </a:xfrm>
          <a:prstGeom prst="rect">
            <a:avLst/>
          </a:prstGeom>
          <a:noFill/>
        </p:spPr>
        <p:txBody>
          <a:bodyPr wrap="square" lIns="82296" tIns="9144" rIns="82296" bIns="9144" anchor="ctr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CLOUD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1050" b="1">
                <a:solidFill>
                  <a:srgbClr val="14375F"/>
                </a:solidFill>
                <a:latin typeface="Arial"/>
              </a:rPr>
              <a:t>PLANE</a:t>
            </a:r>
          </a:p>
          <a:p>
            <a:pPr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E8761F"/>
                </a:solidFill>
                <a:latin typeface="Arial"/>
              </a:rPr>
              <a:t>batch</a:t>
            </a:r>
          </a:p>
          <a:p>
            <a:pPr>
              <a:lnSpc>
                <a:spcPct val="95000"/>
              </a:lnSpc>
            </a:pPr>
            <a:r>
              <a:rPr sz="800" b="0">
                <a:solidFill>
                  <a:srgbClr val="5B6E78"/>
                </a:solidFill>
                <a:latin typeface="Arial"/>
              </a:rPr>
              <a:t>region-sharded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1444751" y="4480560"/>
            <a:ext cx="0" cy="768096"/>
          </a:xfrm>
          <a:prstGeom prst="line">
            <a:avLst/>
          </a:prstGeom>
          <a:ln w="1143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ectangle 17420"/>
          <p:cNvSpPr/>
          <p:nvPr/>
        </p:nvSpPr>
        <p:spPr>
          <a:xfrm>
            <a:off x="1536192" y="1609344"/>
            <a:ext cx="1554480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1536192" y="1609344"/>
            <a:ext cx="15544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SENSE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1536192" y="1865376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1536192" y="1865376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IMU</a:t>
            </a:r>
            <a:r>
              <a:rPr sz="780" b="0">
                <a:solidFill>
                  <a:srgbClr val="5B6E78"/>
                </a:solidFill>
                <a:latin typeface="Arial"/>
              </a:rPr>
              <a:t>   200–400 Hz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1536192" y="2176272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1536192" y="2176272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GNSS raw</a:t>
            </a:r>
            <a:r>
              <a:rPr sz="780" b="0">
                <a:solidFill>
                  <a:srgbClr val="5B6E78"/>
                </a:solidFill>
                <a:latin typeface="Arial"/>
              </a:rPr>
              <a:t>   NavIC L5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1536192" y="2487168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1536192" y="2487168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Baro</a:t>
            </a:r>
            <a:r>
              <a:rPr sz="780" b="0">
                <a:solidFill>
                  <a:srgbClr val="5B6E78"/>
                </a:solidFill>
                <a:latin typeface="Arial"/>
              </a:rPr>
              <a:t>   Magnetometer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1536192" y="2798064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1536192" y="2798064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External IMU</a:t>
            </a:r>
            <a:r>
              <a:rPr sz="780" b="0">
                <a:solidFill>
                  <a:srgbClr val="5B6E78"/>
                </a:solidFill>
                <a:latin typeface="Arial"/>
              </a:rPr>
              <a:t>   MEMS / FOG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3328416" y="1609344"/>
            <a:ext cx="1554480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3328416" y="1609344"/>
            <a:ext cx="15544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CONDITION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3328416" y="1865376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3328416" y="1865376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STFT</a:t>
            </a:r>
            <a:r>
              <a:rPr sz="780" b="0">
                <a:solidFill>
                  <a:srgbClr val="5B6E78"/>
                </a:solidFill>
                <a:latin typeface="Arial"/>
              </a:rPr>
              <a:t>   harmonic ridge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328416" y="2176272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3328416" y="2176272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Notch</a:t>
            </a:r>
            <a:r>
              <a:rPr sz="780" b="0">
                <a:solidFill>
                  <a:srgbClr val="5B6E78"/>
                </a:solidFill>
                <a:latin typeface="Arial"/>
              </a:rPr>
              <a:t>   engine order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3328416" y="2487168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3328416" y="2487168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Shock</a:t>
            </a:r>
            <a:r>
              <a:rPr sz="780" b="0">
                <a:solidFill>
                  <a:srgbClr val="5B6E78"/>
                </a:solidFill>
                <a:latin typeface="Arial"/>
              </a:rPr>
              <a:t>   pothole reject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3328416" y="2798064"/>
            <a:ext cx="155448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3328416" y="2798064"/>
            <a:ext cx="155448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ACE</a:t>
            </a:r>
            <a:r>
              <a:rPr sz="780" b="0">
                <a:solidFill>
                  <a:srgbClr val="5B6E78"/>
                </a:solidFill>
                <a:latin typeface="Arial"/>
              </a:rPr>
              <a:t>   mount solve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5120640" y="1609344"/>
            <a:ext cx="3008376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5120640" y="1609344"/>
            <a:ext cx="3008376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OBSERVE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5120640" y="1865376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5120640" y="1865376"/>
            <a:ext cx="1458468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SVO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spectral speed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6670548" y="1865376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6670548" y="1865376"/>
            <a:ext cx="1458468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CTS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turn speed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5120640" y="2249424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5120640" y="2249424"/>
            <a:ext cx="1458468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CSA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map arc length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6670548" y="2249424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6670548" y="2249424"/>
            <a:ext cx="1458468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EFA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field anchors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5120640" y="2633472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5120640" y="2633472"/>
            <a:ext cx="1458468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NHC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zero side-slip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6670548" y="2633472"/>
            <a:ext cx="145846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6670548" y="2633472"/>
            <a:ext cx="1458468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GQM</a:t>
            </a:r>
          </a:p>
          <a:p>
            <a:pPr>
              <a:lnSpc>
                <a:spcPct val="94000"/>
              </a:lnSpc>
            </a:pPr>
            <a:r>
              <a:rPr sz="780" b="0">
                <a:solidFill>
                  <a:srgbClr val="5B6E78"/>
                </a:solidFill>
                <a:latin typeface="Arial"/>
              </a:rPr>
              <a:t>sat trust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8366760" y="1609344"/>
            <a:ext cx="1691640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6" name="TextBox 17455"/>
          <p:cNvSpPr txBox="1"/>
          <p:nvPr/>
        </p:nvSpPr>
        <p:spPr>
          <a:xfrm>
            <a:off x="8366760" y="1609344"/>
            <a:ext cx="169164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FUSE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8366760" y="1865376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8366760" y="1865376"/>
            <a:ext cx="169164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RI-EKF</a:t>
            </a:r>
            <a:r>
              <a:rPr sz="780" b="0">
                <a:solidFill>
                  <a:srgbClr val="5B6E78"/>
                </a:solidFill>
                <a:latin typeface="Arial"/>
              </a:rPr>
              <a:t>   SE₂(3)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366760" y="2176272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60" name="TextBox 17459"/>
          <p:cNvSpPr txBox="1"/>
          <p:nvPr/>
        </p:nvSpPr>
        <p:spPr>
          <a:xfrm>
            <a:off x="8366760" y="2176272"/>
            <a:ext cx="169164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learned σ</a:t>
            </a:r>
            <a:r>
              <a:rPr sz="780" b="0">
                <a:solidFill>
                  <a:srgbClr val="5B6E78"/>
                </a:solidFill>
                <a:latin typeface="Arial"/>
              </a:rPr>
              <a:t>   per measurement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366760" y="2487168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8366760" y="2487168"/>
            <a:ext cx="169164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learned Q</a:t>
            </a:r>
            <a:r>
              <a:rPr sz="780" b="0">
                <a:solidFill>
                  <a:srgbClr val="5B6E78"/>
                </a:solidFill>
                <a:latin typeface="Arial"/>
              </a:rPr>
              <a:t>   transformer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8366760" y="2798064"/>
            <a:ext cx="16916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8366760" y="2798064"/>
            <a:ext cx="1691640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RB-PF</a:t>
            </a:r>
            <a:r>
              <a:rPr sz="780" b="0">
                <a:solidFill>
                  <a:srgbClr val="5B6E78"/>
                </a:solidFill>
                <a:latin typeface="Arial"/>
              </a:rPr>
              <a:t>   road graph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10296144" y="1609344"/>
            <a:ext cx="1435608" cy="219456"/>
          </a:xfrm>
          <a:prstGeom prst="rect">
            <a:avLst/>
          </a:prstGeom>
          <a:solidFill>
            <a:srgbClr val="14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10296144" y="1609344"/>
            <a:ext cx="1435608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10296144" y="1865376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68" name="TextBox 17467"/>
          <p:cNvSpPr txBox="1"/>
          <p:nvPr/>
        </p:nvSpPr>
        <p:spPr>
          <a:xfrm>
            <a:off x="10296144" y="1865376"/>
            <a:ext cx="1435608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10 Hz</a:t>
            </a:r>
            <a:r>
              <a:rPr sz="780" b="0">
                <a:solidFill>
                  <a:srgbClr val="5B6E78"/>
                </a:solidFill>
                <a:latin typeface="Arial"/>
              </a:rPr>
              <a:t>   phone pose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10296144" y="2176272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10296144" y="2176272"/>
            <a:ext cx="1435608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200 Hz</a:t>
            </a:r>
            <a:r>
              <a:rPr sz="780" b="0">
                <a:solidFill>
                  <a:srgbClr val="5B6E78"/>
                </a:solidFill>
                <a:latin typeface="Arial"/>
              </a:rPr>
              <a:t>   edge pose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10296144" y="2487168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72" name="TextBox 17471"/>
          <p:cNvSpPr txBox="1"/>
          <p:nvPr/>
        </p:nvSpPr>
        <p:spPr>
          <a:xfrm>
            <a:off x="10296144" y="2487168"/>
            <a:ext cx="1435608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Lane-level</a:t>
            </a:r>
            <a:r>
              <a:rPr sz="780" b="0">
                <a:solidFill>
                  <a:srgbClr val="5B6E78"/>
                </a:solidFill>
                <a:latin typeface="Arial"/>
              </a:rPr>
              <a:t>   + tube</a:t>
            </a:r>
          </a:p>
        </p:txBody>
      </p:sp>
      <p:sp>
        <p:nvSpPr>
          <p:cNvPr id="17473" name="Rectangle 17472"/>
          <p:cNvSpPr/>
          <p:nvPr/>
        </p:nvSpPr>
        <p:spPr>
          <a:xfrm>
            <a:off x="10296144" y="2798064"/>
            <a:ext cx="1435608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10296144" y="2798064"/>
            <a:ext cx="1435608" cy="265176"/>
          </a:xfrm>
          <a:prstGeom prst="rect">
            <a:avLst/>
          </a:prstGeom>
          <a:noFill/>
        </p:spPr>
        <p:txBody>
          <a:bodyPr wrap="square" lIns="54864" tIns="9144" rIns="54864" bIns="9144" anchor="ctr">
            <a:spAutoFit/>
          </a:bodyPr>
          <a:lstStyle/>
          <a:p>
            <a:pPr>
              <a:lnSpc>
                <a:spcPct val="95000"/>
              </a:lnSpc>
            </a:pPr>
            <a:r>
              <a:rPr sz="880" b="1">
                <a:solidFill>
                  <a:srgbClr val="14375F"/>
                </a:solidFill>
                <a:latin typeface="Arial"/>
              </a:rPr>
              <a:t>API</a:t>
            </a:r>
            <a:r>
              <a:rPr sz="780" b="0">
                <a:solidFill>
                  <a:srgbClr val="5B6E78"/>
                </a:solidFill>
                <a:latin typeface="Arial"/>
              </a:rPr>
              <a:t>   gRPC · NMEA</a:t>
            </a:r>
          </a:p>
        </p:txBody>
      </p:sp>
      <p:sp>
        <p:nvSpPr>
          <p:cNvPr id="17475" name="Right Arrow 17474"/>
          <p:cNvSpPr/>
          <p:nvPr/>
        </p:nvSpPr>
        <p:spPr>
          <a:xfrm>
            <a:off x="3108960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6" name="Right Arrow 17475"/>
          <p:cNvSpPr/>
          <p:nvPr/>
        </p:nvSpPr>
        <p:spPr>
          <a:xfrm>
            <a:off x="4901184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Right Arrow 17476"/>
          <p:cNvSpPr/>
          <p:nvPr/>
        </p:nvSpPr>
        <p:spPr>
          <a:xfrm>
            <a:off x="8147304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Right Arrow 17477"/>
          <p:cNvSpPr/>
          <p:nvPr/>
        </p:nvSpPr>
        <p:spPr>
          <a:xfrm>
            <a:off x="10076688" y="2441448"/>
            <a:ext cx="201168" cy="182880"/>
          </a:xfrm>
          <a:prstGeom prst="right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9" name="TextBox 17478"/>
          <p:cNvSpPr txBox="1"/>
          <p:nvPr/>
        </p:nvSpPr>
        <p:spPr>
          <a:xfrm>
            <a:off x="1536192" y="3538728"/>
            <a:ext cx="484632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900" b="1">
                <a:solidFill>
                  <a:srgbClr val="0C6DB5"/>
                </a:solidFill>
                <a:latin typeface="Arial"/>
              </a:rPr>
              <a:t>DISTRIBUTION</a:t>
            </a:r>
            <a:r>
              <a:rPr sz="819" b="0">
                <a:solidFill>
                  <a:srgbClr val="5B6E78"/>
                </a:solidFill>
                <a:latin typeface="Arial"/>
              </a:rPr>
              <a:t>     signed, immutable, versioned bundles — installed offline</a:t>
            </a:r>
          </a:p>
        </p:txBody>
      </p:sp>
      <p:sp>
        <p:nvSpPr>
          <p:cNvPr id="17480" name="Rectangle 17479"/>
          <p:cNvSpPr/>
          <p:nvPr/>
        </p:nvSpPr>
        <p:spPr>
          <a:xfrm>
            <a:off x="1536192" y="3749039"/>
            <a:ext cx="1469136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81" name="TextBox 17480"/>
          <p:cNvSpPr txBox="1"/>
          <p:nvPr/>
        </p:nvSpPr>
        <p:spPr>
          <a:xfrm>
            <a:off x="1536192" y="3749039"/>
            <a:ext cx="1469136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Model registry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3224783" y="3749039"/>
            <a:ext cx="1469136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83" name="TextBox 17482"/>
          <p:cNvSpPr txBox="1"/>
          <p:nvPr/>
        </p:nvSpPr>
        <p:spPr>
          <a:xfrm>
            <a:off x="3224783" y="3749039"/>
            <a:ext cx="1469136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Map / tile CDN</a:t>
            </a:r>
          </a:p>
        </p:txBody>
      </p:sp>
      <p:sp>
        <p:nvSpPr>
          <p:cNvPr id="17484" name="Rectangle 17483"/>
          <p:cNvSpPr/>
          <p:nvPr/>
        </p:nvSpPr>
        <p:spPr>
          <a:xfrm>
            <a:off x="4913376" y="3749039"/>
            <a:ext cx="1469136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0C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85" name="TextBox 17484"/>
          <p:cNvSpPr txBox="1"/>
          <p:nvPr/>
        </p:nvSpPr>
        <p:spPr>
          <a:xfrm>
            <a:off x="4913376" y="3749039"/>
            <a:ext cx="1469136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Config &amp; flags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6675120" y="3538728"/>
            <a:ext cx="5129784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900" b="1">
                <a:solidFill>
                  <a:srgbClr val="1B8A4C"/>
                </a:solidFill>
                <a:latin typeface="Arial"/>
              </a:rPr>
              <a:t>CONTRIBUTION</a:t>
            </a:r>
            <a:r>
              <a:rPr sz="819" b="0">
                <a:solidFill>
                  <a:srgbClr val="5B6E78"/>
                </a:solidFill>
                <a:latin typeface="Arial"/>
              </a:rPr>
              <a:t>     opt-in · ~1 KB per edge · signatures only, never trajectories</a:t>
            </a:r>
          </a:p>
        </p:txBody>
      </p:sp>
      <p:sp>
        <p:nvSpPr>
          <p:cNvPr id="17487" name="Rectangle 17486"/>
          <p:cNvSpPr/>
          <p:nvPr/>
        </p:nvSpPr>
        <p:spPr>
          <a:xfrm>
            <a:off x="6675120" y="3749039"/>
            <a:ext cx="156362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88" name="TextBox 17487"/>
          <p:cNvSpPr txBox="1"/>
          <p:nvPr/>
        </p:nvSpPr>
        <p:spPr>
          <a:xfrm>
            <a:off x="6675120" y="3749039"/>
            <a:ext cx="156362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API gateway</a:t>
            </a:r>
          </a:p>
        </p:txBody>
      </p:sp>
      <p:sp>
        <p:nvSpPr>
          <p:cNvPr id="17489" name="Rectangle 17488"/>
          <p:cNvSpPr/>
          <p:nvPr/>
        </p:nvSpPr>
        <p:spPr>
          <a:xfrm>
            <a:off x="8458200" y="3749039"/>
            <a:ext cx="156362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90" name="TextBox 17489"/>
          <p:cNvSpPr txBox="1"/>
          <p:nvPr/>
        </p:nvSpPr>
        <p:spPr>
          <a:xfrm>
            <a:off x="8458200" y="3749039"/>
            <a:ext cx="156362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Stream queue</a:t>
            </a:r>
          </a:p>
        </p:txBody>
      </p:sp>
      <p:sp>
        <p:nvSpPr>
          <p:cNvPr id="17491" name="Rectangle 17490"/>
          <p:cNvSpPr/>
          <p:nvPr/>
        </p:nvSpPr>
        <p:spPr>
          <a:xfrm>
            <a:off x="10241280" y="3749039"/>
            <a:ext cx="156362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92" name="TextBox 17491"/>
          <p:cNvSpPr txBox="1"/>
          <p:nvPr/>
        </p:nvSpPr>
        <p:spPr>
          <a:xfrm>
            <a:off x="10241280" y="3749039"/>
            <a:ext cx="156362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k-anon aggregator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1536192" y="4453128"/>
            <a:ext cx="484632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900" b="1">
                <a:solidFill>
                  <a:srgbClr val="E8761F"/>
                </a:solidFill>
                <a:latin typeface="Arial"/>
              </a:rPr>
              <a:t>MAP BUILD</a:t>
            </a:r>
            <a:r>
              <a:rPr sz="819" b="0">
                <a:solidFill>
                  <a:srgbClr val="5B6E78"/>
                </a:solidFill>
                <a:latin typeface="Arial"/>
              </a:rPr>
              <a:t>     per region, independently</a:t>
            </a:r>
          </a:p>
        </p:txBody>
      </p:sp>
      <p:sp>
        <p:nvSpPr>
          <p:cNvPr id="17494" name="Rectangle 17493"/>
          <p:cNvSpPr/>
          <p:nvPr/>
        </p:nvSpPr>
        <p:spPr>
          <a:xfrm>
            <a:off x="1536192" y="4663440"/>
            <a:ext cx="1469136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95" name="TextBox 17494"/>
          <p:cNvSpPr txBox="1"/>
          <p:nvPr/>
        </p:nvSpPr>
        <p:spPr>
          <a:xfrm>
            <a:off x="1536192" y="4663440"/>
            <a:ext cx="1469136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OSM extract</a:t>
            </a:r>
          </a:p>
        </p:txBody>
      </p:sp>
      <p:sp>
        <p:nvSpPr>
          <p:cNvPr id="17496" name="Right Arrow 17495"/>
          <p:cNvSpPr/>
          <p:nvPr/>
        </p:nvSpPr>
        <p:spPr>
          <a:xfrm>
            <a:off x="3023616" y="4709160"/>
            <a:ext cx="182880" cy="237744"/>
          </a:xfrm>
          <a:prstGeom prst="rightArrow">
            <a:avLst/>
          </a:prstGeom>
          <a:solidFill>
            <a:srgbClr val="E8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Rectangle 17496"/>
          <p:cNvSpPr/>
          <p:nvPr/>
        </p:nvSpPr>
        <p:spPr>
          <a:xfrm>
            <a:off x="3224783" y="4663440"/>
            <a:ext cx="1469136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98" name="TextBox 17497"/>
          <p:cNvSpPr txBox="1"/>
          <p:nvPr/>
        </p:nvSpPr>
        <p:spPr>
          <a:xfrm>
            <a:off x="3224783" y="4663440"/>
            <a:ext cx="1469136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Graph + κ(s) LUT</a:t>
            </a:r>
          </a:p>
        </p:txBody>
      </p:sp>
      <p:sp>
        <p:nvSpPr>
          <p:cNvPr id="17499" name="Right Arrow 17498"/>
          <p:cNvSpPr/>
          <p:nvPr/>
        </p:nvSpPr>
        <p:spPr>
          <a:xfrm>
            <a:off x="4712207" y="4709160"/>
            <a:ext cx="182880" cy="237744"/>
          </a:xfrm>
          <a:prstGeom prst="rightArrow">
            <a:avLst/>
          </a:prstGeom>
          <a:solidFill>
            <a:srgbClr val="E8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0" name="Rectangle 17499"/>
          <p:cNvSpPr/>
          <p:nvPr/>
        </p:nvSpPr>
        <p:spPr>
          <a:xfrm>
            <a:off x="4913376" y="4663440"/>
            <a:ext cx="1469136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01" name="TextBox 17500"/>
          <p:cNvSpPr txBox="1"/>
          <p:nvPr/>
        </p:nvSpPr>
        <p:spPr>
          <a:xfrm>
            <a:off x="4913376" y="4663440"/>
            <a:ext cx="1469136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DEM · PMTiles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6675120" y="4453128"/>
            <a:ext cx="5129784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5000"/>
              </a:lnSpc>
            </a:pPr>
            <a:r>
              <a:rPr sz="900" b="1">
                <a:solidFill>
                  <a:srgbClr val="E8761F"/>
                </a:solidFill>
                <a:latin typeface="Arial"/>
              </a:rPr>
              <a:t>LEARNING</a:t>
            </a:r>
            <a:r>
              <a:rPr sz="819" b="0">
                <a:solidFill>
                  <a:srgbClr val="5B6E78"/>
                </a:solidFill>
                <a:latin typeface="Arial"/>
              </a:rPr>
              <a:t>     nightly retrain, gated on the benchmark</a:t>
            </a:r>
          </a:p>
        </p:txBody>
      </p:sp>
      <p:sp>
        <p:nvSpPr>
          <p:cNvPr id="17503" name="Rectangle 17502"/>
          <p:cNvSpPr/>
          <p:nvPr/>
        </p:nvSpPr>
        <p:spPr>
          <a:xfrm>
            <a:off x="6675120" y="4663440"/>
            <a:ext cx="111785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04" name="TextBox 17503"/>
          <p:cNvSpPr txBox="1"/>
          <p:nvPr/>
        </p:nvSpPr>
        <p:spPr>
          <a:xfrm>
            <a:off x="6675120" y="4663440"/>
            <a:ext cx="111785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Data lake</a:t>
            </a:r>
          </a:p>
        </p:txBody>
      </p:sp>
      <p:sp>
        <p:nvSpPr>
          <p:cNvPr id="17505" name="Right Arrow 17504"/>
          <p:cNvSpPr/>
          <p:nvPr/>
        </p:nvSpPr>
        <p:spPr>
          <a:xfrm>
            <a:off x="7811262" y="4709160"/>
            <a:ext cx="182880" cy="237744"/>
          </a:xfrm>
          <a:prstGeom prst="rightArrow">
            <a:avLst/>
          </a:prstGeom>
          <a:solidFill>
            <a:srgbClr val="E8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6" name="Rectangle 17505"/>
          <p:cNvSpPr/>
          <p:nvPr/>
        </p:nvSpPr>
        <p:spPr>
          <a:xfrm>
            <a:off x="8012429" y="4663440"/>
            <a:ext cx="111785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07" name="TextBox 17506"/>
          <p:cNvSpPr txBox="1"/>
          <p:nvPr/>
        </p:nvSpPr>
        <p:spPr>
          <a:xfrm>
            <a:off x="8012429" y="4663440"/>
            <a:ext cx="111785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Training cluster</a:t>
            </a:r>
          </a:p>
        </p:txBody>
      </p:sp>
      <p:sp>
        <p:nvSpPr>
          <p:cNvPr id="17508" name="Right Arrow 17507"/>
          <p:cNvSpPr/>
          <p:nvPr/>
        </p:nvSpPr>
        <p:spPr>
          <a:xfrm>
            <a:off x="9148572" y="4709160"/>
            <a:ext cx="182880" cy="237744"/>
          </a:xfrm>
          <a:prstGeom prst="rightArrow">
            <a:avLst/>
          </a:prstGeom>
          <a:solidFill>
            <a:srgbClr val="E8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9" name="Rectangle 17508"/>
          <p:cNvSpPr/>
          <p:nvPr/>
        </p:nvSpPr>
        <p:spPr>
          <a:xfrm>
            <a:off x="9349740" y="4663440"/>
            <a:ext cx="111785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10" name="TextBox 17509"/>
          <p:cNvSpPr txBox="1"/>
          <p:nvPr/>
        </p:nvSpPr>
        <p:spPr>
          <a:xfrm>
            <a:off x="9349740" y="4663440"/>
            <a:ext cx="111785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Eval gate</a:t>
            </a:r>
          </a:p>
        </p:txBody>
      </p:sp>
      <p:sp>
        <p:nvSpPr>
          <p:cNvPr id="17511" name="Right Arrow 17510"/>
          <p:cNvSpPr/>
          <p:nvPr/>
        </p:nvSpPr>
        <p:spPr>
          <a:xfrm>
            <a:off x="10485882" y="4709160"/>
            <a:ext cx="182880" cy="237744"/>
          </a:xfrm>
          <a:prstGeom prst="rightArrow">
            <a:avLst/>
          </a:prstGeom>
          <a:solidFill>
            <a:srgbClr val="E8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2" name="Rectangle 17511"/>
          <p:cNvSpPr/>
          <p:nvPr/>
        </p:nvSpPr>
        <p:spPr>
          <a:xfrm>
            <a:off x="10687050" y="4663440"/>
            <a:ext cx="1117854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13" name="TextBox 17512"/>
          <p:cNvSpPr txBox="1"/>
          <p:nvPr/>
        </p:nvSpPr>
        <p:spPr>
          <a:xfrm>
            <a:off x="10687050" y="4663440"/>
            <a:ext cx="111785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96000"/>
              </a:lnSpc>
            </a:pPr>
            <a:r>
              <a:rPr sz="940" b="1">
                <a:solidFill>
                  <a:srgbClr val="14375F"/>
                </a:solidFill>
                <a:latin typeface="Arial"/>
              </a:rPr>
              <a:t>Telemetry &amp; KPI</a:t>
            </a:r>
          </a:p>
        </p:txBody>
      </p:sp>
      <p:sp>
        <p:nvSpPr>
          <p:cNvPr id="17514" name="TextBox 17513"/>
          <p:cNvSpPr txBox="1"/>
          <p:nvPr/>
        </p:nvSpPr>
        <p:spPr>
          <a:xfrm>
            <a:off x="1536192" y="5020056"/>
            <a:ext cx="10268712" cy="25603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860" b="1">
                <a:solidFill>
                  <a:srgbClr val="14375F"/>
                </a:solidFill>
                <a:latin typeface="Arial"/>
              </a:rPr>
              <a:t>SCALES BY SHARDING, NOT BY CAPACITY</a:t>
            </a:r>
            <a:r>
              <a:rPr sz="840" b="0">
                <a:solidFill>
                  <a:srgbClr val="14212B"/>
                </a:solidFill>
                <a:latin typeface="Arial"/>
              </a:rPr>
              <a:t>     zero runtime API calls, so device count adds no serving load  ·  ≤250 MB per region  ·  immutable CDN bundles  ·  contribution ~1 KB per edge</a:t>
            </a:r>
          </a:p>
        </p:txBody>
      </p:sp>
      <p:sp>
        <p:nvSpPr>
          <p:cNvPr id="17515" name="Up Arrow 17514"/>
          <p:cNvSpPr/>
          <p:nvPr/>
        </p:nvSpPr>
        <p:spPr>
          <a:xfrm>
            <a:off x="2962656" y="3255264"/>
            <a:ext cx="329184" cy="237744"/>
          </a:xfrm>
          <a:prstGeom prst="up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6" name="Down Arrow 17515"/>
          <p:cNvSpPr/>
          <p:nvPr/>
        </p:nvSpPr>
        <p:spPr>
          <a:xfrm>
            <a:off x="9235440" y="3255264"/>
            <a:ext cx="329184" cy="237744"/>
          </a:xfrm>
          <a:prstGeom prst="downArrow">
            <a:avLst/>
          </a:prstGeom>
          <a:solidFill>
            <a:srgbClr val="1B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7" name="Up Arrow 17516"/>
          <p:cNvSpPr/>
          <p:nvPr/>
        </p:nvSpPr>
        <p:spPr>
          <a:xfrm>
            <a:off x="2962656" y="4169663"/>
            <a:ext cx="329184" cy="237744"/>
          </a:xfrm>
          <a:prstGeom prst="upArrow">
            <a:avLst/>
          </a:prstGeom>
          <a:solidFill>
            <a:srgbClr val="0C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8" name="Down Arrow 17517"/>
          <p:cNvSpPr/>
          <p:nvPr/>
        </p:nvSpPr>
        <p:spPr>
          <a:xfrm>
            <a:off x="9235440" y="4169663"/>
            <a:ext cx="329184" cy="237744"/>
          </a:xfrm>
          <a:prstGeom prst="downArrow">
            <a:avLst/>
          </a:prstGeom>
          <a:solidFill>
            <a:srgbClr val="1B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9" name="TextBox 17518"/>
          <p:cNvSpPr txBox="1"/>
          <p:nvPr/>
        </p:nvSpPr>
        <p:spPr>
          <a:xfrm>
            <a:off x="384048" y="5394960"/>
            <a:ext cx="11420856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Technologies to be used</a:t>
            </a:r>
          </a:p>
        </p:txBody>
      </p:sp>
      <p:cxnSp>
        <p:nvCxnSpPr>
          <p:cNvPr id="17520" name="Connector 17519"/>
          <p:cNvCxnSpPr/>
          <p:nvPr/>
        </p:nvCxnSpPr>
        <p:spPr>
          <a:xfrm>
            <a:off x="384048" y="5660136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1" name="Rectangle 17520"/>
          <p:cNvSpPr/>
          <p:nvPr/>
        </p:nvSpPr>
        <p:spPr>
          <a:xfrm>
            <a:off x="384048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22" name="TextBox 17521"/>
          <p:cNvSpPr txBox="1"/>
          <p:nvPr/>
        </p:nvSpPr>
        <p:spPr>
          <a:xfrm>
            <a:off x="384048" y="5760720"/>
            <a:ext cx="2211019" cy="457200"/>
          </a:xfrm>
          <a:prstGeom prst="rect">
            <a:avLst/>
          </a:prstGeom>
          <a:noFill/>
        </p:spPr>
        <p:txBody>
          <a:bodyPr wrap="square" lIns="73152" tIns="9144" rIns="7315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Training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PyTorch · Lightning · Hydra · MLflow · masked-IMU pretraining</a:t>
            </a:r>
          </a:p>
        </p:txBody>
      </p:sp>
      <p:sp>
        <p:nvSpPr>
          <p:cNvPr id="17523" name="Rectangle 17522"/>
          <p:cNvSpPr/>
          <p:nvPr/>
        </p:nvSpPr>
        <p:spPr>
          <a:xfrm>
            <a:off x="2686507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24" name="TextBox 17523"/>
          <p:cNvSpPr txBox="1"/>
          <p:nvPr/>
        </p:nvSpPr>
        <p:spPr>
          <a:xfrm>
            <a:off x="2686507" y="5760720"/>
            <a:ext cx="2211019" cy="457200"/>
          </a:xfrm>
          <a:prstGeom prst="rect">
            <a:avLst/>
          </a:prstGeom>
          <a:noFill/>
        </p:spPr>
        <p:txBody>
          <a:bodyPr wrap="square" lIns="73152" tIns="9144" rIns="7315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On-device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LiteRT + XNNPACK · ExecuTorch · int8 QAT · 3.6 MB total</a:t>
            </a:r>
          </a:p>
        </p:txBody>
      </p:sp>
      <p:sp>
        <p:nvSpPr>
          <p:cNvPr id="17525" name="Rectangle 17524"/>
          <p:cNvSpPr/>
          <p:nvPr/>
        </p:nvSpPr>
        <p:spPr>
          <a:xfrm>
            <a:off x="4988966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26" name="TextBox 17525"/>
          <p:cNvSpPr txBox="1"/>
          <p:nvPr/>
        </p:nvSpPr>
        <p:spPr>
          <a:xfrm>
            <a:off x="4988966" y="5760720"/>
            <a:ext cx="2211019" cy="457200"/>
          </a:xfrm>
          <a:prstGeom prst="rect">
            <a:avLst/>
          </a:prstGeom>
          <a:noFill/>
        </p:spPr>
        <p:txBody>
          <a:bodyPr wrap="square" lIns="73152" tIns="9144" rIns="7315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Engine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C++20 · Eigen · SE₂(3) Lie · FlatBuffers · GTest replay</a:t>
            </a:r>
          </a:p>
        </p:txBody>
      </p:sp>
      <p:sp>
        <p:nvSpPr>
          <p:cNvPr id="17527" name="Rectangle 17526"/>
          <p:cNvSpPr/>
          <p:nvPr/>
        </p:nvSpPr>
        <p:spPr>
          <a:xfrm>
            <a:off x="7291425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28" name="TextBox 17527"/>
          <p:cNvSpPr txBox="1"/>
          <p:nvPr/>
        </p:nvSpPr>
        <p:spPr>
          <a:xfrm>
            <a:off x="7291425" y="5760720"/>
            <a:ext cx="2211019" cy="457200"/>
          </a:xfrm>
          <a:prstGeom prst="rect">
            <a:avLst/>
          </a:prstGeom>
          <a:noFill/>
        </p:spPr>
        <p:txBody>
          <a:bodyPr wrap="square" lIns="73152" tIns="9144" rIns="7315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Mobile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Kotlin · Compose · MapLibre + PMTiles · SensorDirectChannel</a:t>
            </a:r>
          </a:p>
        </p:txBody>
      </p:sp>
      <p:sp>
        <p:nvSpPr>
          <p:cNvPr id="17529" name="Rectangle 17528"/>
          <p:cNvSpPr/>
          <p:nvPr/>
        </p:nvSpPr>
        <p:spPr>
          <a:xfrm>
            <a:off x="9593884" y="5742432"/>
            <a:ext cx="2211019" cy="493776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30" name="TextBox 17529"/>
          <p:cNvSpPr txBox="1"/>
          <p:nvPr/>
        </p:nvSpPr>
        <p:spPr>
          <a:xfrm>
            <a:off x="9593884" y="5760720"/>
            <a:ext cx="2211019" cy="457200"/>
          </a:xfrm>
          <a:prstGeom prst="rect">
            <a:avLst/>
          </a:prstGeom>
          <a:noFill/>
        </p:spPr>
        <p:txBody>
          <a:bodyPr wrap="square" lIns="73152" tIns="9144" rIns="7315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100"/>
              </a:spcAft>
            </a:pPr>
            <a:r>
              <a:rPr sz="900" b="1">
                <a:solidFill>
                  <a:srgbClr val="14375F"/>
                </a:solidFill>
                <a:latin typeface="Arial"/>
              </a:rPr>
              <a:t>Edge &amp; maps</a:t>
            </a:r>
          </a:p>
          <a:p>
            <a:pPr>
              <a:lnSpc>
                <a:spcPct val="100000"/>
              </a:lnSpc>
            </a:pPr>
            <a:r>
              <a:rPr sz="819" b="0">
                <a:solidFill>
                  <a:srgbClr val="14212B"/>
                </a:solidFill>
                <a:latin typeface="Arial"/>
              </a:rPr>
              <a:t>aarch64 · gRPC / NMEA / ROS 2 · osmium · CartoDEM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3968496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Analysis of the feasibility of the idea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396849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554480"/>
            <a:ext cx="3968496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Data already in hand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IO-VNBD: 5,700 km, phone IMU and CAN bus recorded together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1956816"/>
            <a:ext cx="3968496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Core physics is closed-form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v = a_lat/Ω and f = v/2πR are algebra; only residuals learn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2359152"/>
            <a:ext cx="3968496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Fits today's phones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3.6 MB int8, 2.7 ms per tick, CPU only — no NPU needed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2761488"/>
            <a:ext cx="3968496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Sensors already present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IMU, magnetometer, barometer, raw GNSS with NavIC L5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3163824"/>
            <a:ext cx="3968496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Maps fit offline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≤250 MB per metro region, no connectivity at runtime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84048" y="3566160"/>
            <a:ext cx="3968496" cy="38404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040" b="1">
                <a:solidFill>
                  <a:srgbClr val="14375F"/>
                </a:solidFill>
                <a:latin typeface="Arial"/>
              </a:rPr>
              <a:t>Nothing to buy or fit</a:t>
            </a:r>
          </a:p>
          <a:p>
            <a:pPr>
              <a:lnSpc>
                <a:spcPct val="100000"/>
              </a:lnSpc>
            </a:pPr>
            <a:r>
              <a:rPr sz="919" b="0">
                <a:solidFill>
                  <a:srgbClr val="14212B"/>
                </a:solidFill>
                <a:latin typeface="Arial"/>
              </a:rPr>
              <a:t>no dongle, no encoder, no roadside infrastructure</a:t>
            </a:r>
          </a:p>
        </p:txBody>
      </p:sp>
      <p:pic>
        <p:nvPicPr>
          <p:cNvPr id="17418" name="Picture 17417" descr="fig-t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41648"/>
            <a:ext cx="3968496" cy="1654805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384048" y="5733029"/>
            <a:ext cx="3968496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5B6E78"/>
                </a:solidFill>
                <a:latin typeface="Arial"/>
              </a:rPr>
              <a:t>Every device class clears the ceiling. IO-VNBD's 10 Hz stream is Tier C.</a:t>
            </a:r>
          </a:p>
        </p:txBody>
      </p:sp>
      <p:graphicFrame>
        <p:nvGraphicFramePr>
          <p:cNvPr id="17420" name="Table 17419"/>
          <p:cNvGraphicFramePr>
            <a:graphicFrameLocks noGrp="1"/>
          </p:cNvGraphicFramePr>
          <p:nvPr/>
        </p:nvGraphicFramePr>
        <p:xfrm>
          <a:off x="4572000" y="1170432"/>
          <a:ext cx="7232904" cy="4422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3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64008" marR="64008"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64008" marR="64008"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60" b="1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64008" marR="64008" anchor="ctr">
                    <a:solidFill>
                      <a:srgbClr val="14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60" b="1">
                          <a:solidFill>
                            <a:srgbClr val="14375F"/>
                          </a:solidFill>
                          <a:latin typeface="Arial"/>
                        </a:rPr>
                        <a:t>CSA ambiguous on featureless or badly-mapped roads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19" b="1">
                          <a:solidFill>
                            <a:srgbClr val="B3261E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4212B"/>
                          </a:solidFill>
                          <a:latin typeface="Arial"/>
                        </a:rPr>
                        <a:t>Landmark saliency scoring · top-k hypotheses in the particle filter · honest σ. Falls back to classical HMM map matching.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60" b="1">
                          <a:solidFill>
                            <a:srgbClr val="14375F"/>
                          </a:solidFill>
                          <a:latin typeface="Arial"/>
                        </a:rPr>
                        <a:t>Axle harmonics weak — smooth road, quiet EV, soft mount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19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4212B"/>
                          </a:solidFill>
                          <a:latin typeface="Arial"/>
                        </a:rPr>
                        <a:t>Mount-quality gate · summation over 8+ orders · learned σ down-weights it. Falls back to Tier B.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60" b="1">
                          <a:solidFill>
                            <a:srgbClr val="14375F"/>
                          </a:solidFill>
                          <a:latin typeface="Arial"/>
                        </a:rPr>
                        <a:t>IO-VNBD phone stream is 10 Hz, so cannot validate SVO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19" b="1">
                          <a:solidFill>
                            <a:srgbClr val="0C6DB5"/>
                          </a:solidFill>
                          <a:latin typeface="Arial"/>
                        </a:rPr>
                        <a:t>Known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4212B"/>
                          </a:solidFill>
                          <a:latin typeface="Arial"/>
                        </a:rPr>
                        <a:t>Declared as capability tiers. SVO validated on self-collected 400 Hz logs.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60" b="1">
                          <a:solidFill>
                            <a:srgbClr val="14375F"/>
                          </a:solidFill>
                          <a:latin typeface="Arial"/>
                        </a:rPr>
                        <a:t>No two-wheeler data in IO-VNBD — four cars, no Indian roads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19" b="1">
                          <a:solidFill>
                            <a:srgbClr val="0C6DB5"/>
                          </a:solidFill>
                          <a:latin typeface="Arial"/>
                        </a:rPr>
                        <a:t>Known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4212B"/>
                          </a:solidFill>
                          <a:latin typeface="Arial"/>
                        </a:rPr>
                        <a:t>Lean relation imposed as a physics loss, so few samples suffice. Dedicated collection.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60" b="1">
                          <a:solidFill>
                            <a:srgbClr val="14375F"/>
                          </a:solidFill>
                          <a:latin typeface="Arial"/>
                        </a:rPr>
                        <a:t>Sensor rate throttled below 200 Hz on some devices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19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4212B"/>
                          </a:solidFill>
                          <a:latin typeface="Arial"/>
                        </a:rPr>
                        <a:t>Tier detected at runtime · SensorDirectChannel · verified on three device classes.</a:t>
                      </a:r>
                    </a:p>
                  </a:txBody>
                  <a:tcPr marL="64008" marR="64008" marT="36576" marB="36576" anchor="ctr">
                    <a:solidFill>
                      <a:srgbClr val="F3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998"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60" b="1">
                          <a:solidFill>
                            <a:srgbClr val="14375F"/>
                          </a:solidFill>
                          <a:latin typeface="Arial"/>
                        </a:rPr>
                        <a:t>Uneven OpenStreetMap geometry on Indian roads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19" b="1">
                          <a:solidFill>
                            <a:srgbClr val="E876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2000"/>
                        </a:lnSpc>
                      </a:pPr>
                      <a:r>
                        <a:rPr sz="1000" b="0">
                          <a:solidFill>
                            <a:srgbClr val="14212B"/>
                          </a:solidFill>
                          <a:latin typeface="Arial"/>
                        </a:rPr>
                        <a:t>Covariance scaled by OSM confidence · explicit off-road particle · provider adapter.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21" name="Rectangle 17420"/>
          <p:cNvSpPr/>
          <p:nvPr/>
        </p:nvSpPr>
        <p:spPr>
          <a:xfrm>
            <a:off x="4572000" y="5705856"/>
            <a:ext cx="7232904" cy="530352"/>
          </a:xfrm>
          <a:prstGeom prst="rect">
            <a:avLst/>
          </a:prstGeom>
          <a:solidFill>
            <a:srgbClr val="E8EFF3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4572000" y="5705856"/>
            <a:ext cx="7232904" cy="530352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19" b="1">
                <a:solidFill>
                  <a:srgbClr val="14375F"/>
                </a:solidFill>
                <a:latin typeface="Arial"/>
              </a:rPr>
              <a:t>Fallback ladder</a:t>
            </a:r>
            <a:r>
              <a:rPr sz="960" b="0">
                <a:solidFill>
                  <a:srgbClr val="14212B"/>
                </a:solidFill>
                <a:latin typeface="Arial"/>
              </a:rPr>
              <a:t>     lose CSA → HMM map matching  ·  lose SVO → Tier B  ·  lose both → INS + NHC + ZUPT, already inside the 10 % gate. No single failure leaves us with nothing to show.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4663440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Potential impact on the target audience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466344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554480"/>
            <a:ext cx="4663440" cy="3502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200" b="1" dirty="0">
                <a:solidFill>
                  <a:srgbClr val="14375F"/>
                </a:solidFill>
                <a:latin typeface="Arial"/>
              </a:rPr>
              <a:t>Delivery and quick-commerce riders</a:t>
            </a:r>
          </a:p>
          <a:p>
            <a:pPr>
              <a:lnSpc>
                <a:spcPct val="100000"/>
              </a:lnSpc>
            </a:pPr>
            <a:r>
              <a:rPr sz="1000" b="0" dirty="0">
                <a:solidFill>
                  <a:srgbClr val="14212B"/>
                </a:solidFill>
                <a:latin typeface="Arial"/>
              </a:rPr>
              <a:t>the next turn is announced before the exit, not after it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84048" y="2029967"/>
            <a:ext cx="4663440" cy="3502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200" b="1" dirty="0">
                <a:solidFill>
                  <a:srgbClr val="14375F"/>
                </a:solidFill>
                <a:latin typeface="Arial"/>
              </a:rPr>
              <a:t>Logistics and fleet operators</a:t>
            </a:r>
          </a:p>
          <a:p>
            <a:pPr>
              <a:lnSpc>
                <a:spcPct val="100000"/>
              </a:lnSpc>
            </a:pPr>
            <a:r>
              <a:rPr sz="1000" b="0" dirty="0">
                <a:solidFill>
                  <a:srgbClr val="14212B"/>
                </a:solidFill>
                <a:latin typeface="Arial"/>
              </a:rPr>
              <a:t>mileage, ETA and proof of delivery survive the gap — no dongle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84048" y="2505456"/>
            <a:ext cx="4663440" cy="3502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200" b="1" dirty="0">
                <a:solidFill>
                  <a:srgbClr val="14375F"/>
                </a:solidFill>
                <a:latin typeface="Arial"/>
              </a:rPr>
              <a:t>Ride-hailing drivers and riders</a:t>
            </a:r>
          </a:p>
          <a:p>
            <a:pPr>
              <a:lnSpc>
                <a:spcPct val="100000"/>
              </a:lnSpc>
            </a:pPr>
            <a:r>
              <a:rPr sz="1000" b="0" dirty="0">
                <a:solidFill>
                  <a:srgbClr val="14212B"/>
                </a:solidFill>
                <a:latin typeface="Arial"/>
              </a:rPr>
              <a:t>no frozen or teleporting car; pickups on the correct side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84048" y="2980944"/>
            <a:ext cx="4663440" cy="3502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14375F"/>
                </a:solidFill>
                <a:latin typeface="Arial"/>
              </a:rPr>
              <a:t>Emergency responders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a live position underground, where dispatch loses them today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3456432"/>
            <a:ext cx="4663440" cy="3502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14375F"/>
                </a:solidFill>
                <a:latin typeface="Arial"/>
              </a:rPr>
              <a:t>Two-wheeler riders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India's largest vehicle class, finally with lean-aware physics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84048" y="3931920"/>
            <a:ext cx="4663440" cy="3502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14375F"/>
                </a:solidFill>
                <a:latin typeface="Arial"/>
              </a:rPr>
              <a:t>Defence and critical logistics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self-contained; degrades gracefully under jamming or spoofing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84048" y="4480560"/>
            <a:ext cx="4663440" cy="175564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384048" y="4526280"/>
            <a:ext cx="4663440" cy="1652247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1" dirty="0">
                <a:solidFill>
                  <a:srgbClr val="14375F"/>
                </a:solidFill>
                <a:latin typeface="Arial"/>
              </a:rPr>
              <a:t>Where it matters most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dirty="0">
                <a:solidFill>
                  <a:srgbClr val="14212B"/>
                </a:solidFill>
                <a:latin typeface="Arial"/>
              </a:rPr>
              <a:t>Long tunnels and metro underpasses</a:t>
            </a:r>
            <a:r>
              <a:rPr sz="1000" b="0" dirty="0">
                <a:solidFill>
                  <a:srgbClr val="5B6E78"/>
                </a:solidFill>
                <a:latin typeface="Arial"/>
              </a:rPr>
              <a:t>   the road is one-dimensional, so the map carries it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dirty="0">
                <a:solidFill>
                  <a:srgbClr val="14212B"/>
                </a:solidFill>
                <a:latin typeface="Arial"/>
              </a:rPr>
              <a:t>Multi-level parking</a:t>
            </a:r>
            <a:r>
              <a:rPr sz="1000" b="0" dirty="0">
                <a:solidFill>
                  <a:srgbClr val="5B6E78"/>
                </a:solidFill>
                <a:latin typeface="Arial"/>
              </a:rPr>
              <a:t>   helical ramps are unique signatures; the barometer gives the floor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dirty="0">
                <a:solidFill>
                  <a:srgbClr val="14212B"/>
                </a:solidFill>
                <a:latin typeface="Arial"/>
              </a:rPr>
              <a:t>Dense urban canyons</a:t>
            </a:r>
            <a:r>
              <a:rPr sz="1000" b="0" dirty="0">
                <a:solidFill>
                  <a:srgbClr val="5B6E78"/>
                </a:solidFill>
                <a:latin typeface="Arial"/>
              </a:rPr>
              <a:t>   position unusable, but Doppler velocity survives on 3–4 satellites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14212B"/>
                </a:solidFill>
                <a:latin typeface="Arial"/>
              </a:rPr>
              <a:t>Forested and valley highways</a:t>
            </a:r>
            <a:r>
              <a:rPr sz="1000" b="0" dirty="0">
                <a:solidFill>
                  <a:srgbClr val="5B6E78"/>
                </a:solidFill>
                <a:latin typeface="Arial"/>
              </a:rPr>
              <a:t>   partial GNSS, absorbed by the trust ramp with no mode switch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266944" y="1170432"/>
            <a:ext cx="6537960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Benefits of the solution (social, economic, environmental, etc.)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266944" y="1435608"/>
            <a:ext cx="6537960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ectangle 17421"/>
          <p:cNvSpPr/>
          <p:nvPr/>
        </p:nvSpPr>
        <p:spPr>
          <a:xfrm>
            <a:off x="5266944" y="1554480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5266944" y="1600200"/>
            <a:ext cx="3168396" cy="1043812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 dirty="0">
                <a:solidFill>
                  <a:srgbClr val="1B8A4C"/>
                </a:solidFill>
                <a:latin typeface="Arial"/>
              </a:rPr>
              <a:t>Social</a:t>
            </a:r>
          </a:p>
          <a:p>
            <a:pPr>
              <a:lnSpc>
                <a:spcPct val="104000"/>
              </a:lnSpc>
            </a:pPr>
            <a:r>
              <a:rPr sz="1000" b="0" dirty="0">
                <a:solidFill>
                  <a:srgbClr val="14212B"/>
                </a:solidFill>
                <a:latin typeface="Arial"/>
              </a:rPr>
              <a:t>A correct instruction on time means fewer glances at the screen when a rider can least afford one. Emergency crews stay locatable underground. Accurate navigation stops being a feature of expensive cars.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636508" y="1554480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8636508" y="1600200"/>
            <a:ext cx="3168396" cy="883768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 dirty="0">
                <a:solidFill>
                  <a:srgbClr val="0C6DB5"/>
                </a:solidFill>
                <a:latin typeface="Arial"/>
              </a:rPr>
              <a:t>Economic</a:t>
            </a:r>
          </a:p>
          <a:p>
            <a:pPr>
              <a:lnSpc>
                <a:spcPct val="104000"/>
              </a:lnSpc>
            </a:pPr>
            <a:r>
              <a:rPr sz="1000" b="0" dirty="0">
                <a:solidFill>
                  <a:srgbClr val="14212B"/>
                </a:solidFill>
                <a:latin typeface="Arial"/>
              </a:rPr>
              <a:t>Zero marginal hardware — it runs on phones riders already own. No dongle per vehicle, no factory INS, no leaky-feeder per tunnel. Fewer missed exits and failed deliveries on the same fleet.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266944" y="2816352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5266944" y="2862072"/>
            <a:ext cx="3168396" cy="883768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E8761F"/>
                </a:solidFill>
                <a:latin typeface="Arial"/>
              </a:rPr>
              <a:t>Environmental</a:t>
            </a:r>
          </a:p>
          <a:p>
            <a:pPr>
              <a:lnSpc>
                <a:spcPct val="104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A missed exit is wasted kilometres, fuel and emissions; removing the cause removes all three. Entirely on-device, so no roadside infrastructure is built, powered or maintained.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8636508" y="2816352"/>
            <a:ext cx="3168396" cy="1115568"/>
          </a:xfrm>
          <a:prstGeom prst="rect">
            <a:avLst/>
          </a:prstGeom>
          <a:solidFill>
            <a:srgbClr val="F3F7F9"/>
          </a:solidFill>
          <a:ln w="9525">
            <a:solidFill>
              <a:srgbClr val="CD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8636508" y="2862072"/>
            <a:ext cx="3168396" cy="883768"/>
          </a:xfrm>
          <a:prstGeom prst="rect">
            <a:avLst/>
          </a:prstGeom>
          <a:noFill/>
        </p:spPr>
        <p:txBody>
          <a:bodyPr wrap="square" lIns="100584" tIns="9144" rIns="10058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375F"/>
                </a:solidFill>
                <a:latin typeface="Arial"/>
              </a:rPr>
              <a:t>Strategic</a:t>
            </a:r>
          </a:p>
          <a:p>
            <a:pPr>
              <a:lnSpc>
                <a:spcPct val="104000"/>
              </a:lnSpc>
            </a:pPr>
            <a:r>
              <a:rPr sz="1000" b="0">
                <a:solidFill>
                  <a:srgbClr val="14212B"/>
                </a:solidFill>
                <a:latin typeface="Arial"/>
              </a:rPr>
              <a:t>Jamming- and spoofing-resilient by construction, since every channel is self-contained. Uses NavIC L5 where Indian devices expose it, runs fully offline, keeps data on the phone.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5266944" y="4206240"/>
            <a:ext cx="2081784" cy="1335024"/>
          </a:xfrm>
          <a:prstGeom prst="rect">
            <a:avLst/>
          </a:prstGeom>
          <a:solidFill>
            <a:srgbClr val="FFFFFF"/>
          </a:solidFill>
          <a:ln w="1778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5266944" y="4270248"/>
            <a:ext cx="2081784" cy="1207008"/>
          </a:xfrm>
          <a:prstGeom prst="rect">
            <a:avLst/>
          </a:prstGeom>
          <a:noFill/>
        </p:spPr>
        <p:txBody>
          <a:bodyPr wrap="square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5B6E78"/>
                </a:solidFill>
                <a:latin typeface="Arial"/>
              </a:rPr>
              <a:t>Pure inertial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3100" b="1">
                <a:solidFill>
                  <a:srgbClr val="B3261E"/>
                </a:solidFill>
                <a:latin typeface="Arial"/>
              </a:rPr>
              <a:t>180 m</a:t>
            </a:r>
          </a:p>
          <a:p>
            <a:pPr>
              <a:lnSpc>
                <a:spcPct val="102000"/>
              </a:lnSpc>
            </a:pPr>
            <a:r>
              <a:rPr sz="860" b="0">
                <a:solidFill>
                  <a:srgbClr val="14212B"/>
                </a:solidFill>
                <a:latin typeface="Arial"/>
              </a:rPr>
              <a:t>½·b·t² — a block away after one minute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7495032" y="4206240"/>
            <a:ext cx="2081784" cy="1335024"/>
          </a:xfrm>
          <a:prstGeom prst="rect">
            <a:avLst/>
          </a:prstGeom>
          <a:solidFill>
            <a:srgbClr val="FFFFFF"/>
          </a:solidFill>
          <a:ln w="17780">
            <a:solidFill>
              <a:srgbClr val="E87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495032" y="4270248"/>
            <a:ext cx="2081784" cy="1207008"/>
          </a:xfrm>
          <a:prstGeom prst="rect">
            <a:avLst/>
          </a:prstGeom>
          <a:noFill/>
        </p:spPr>
        <p:txBody>
          <a:bodyPr wrap="square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5B6E78"/>
                </a:solidFill>
                <a:latin typeface="Arial"/>
              </a:rPr>
              <a:t>Best published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3100" b="1">
                <a:solidFill>
                  <a:srgbClr val="E8761F"/>
                </a:solidFill>
                <a:latin typeface="Arial"/>
              </a:rPr>
              <a:t>31 m</a:t>
            </a:r>
          </a:p>
          <a:p>
            <a:pPr>
              <a:lnSpc>
                <a:spcPct val="102000"/>
              </a:lnSpc>
            </a:pPr>
            <a:r>
              <a:rPr sz="860" b="0">
                <a:solidFill>
                  <a:srgbClr val="14212B"/>
                </a:solidFill>
                <a:latin typeface="Arial"/>
              </a:rPr>
              <a:t>3.1 % per km, INS + NHC in a real tunnel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9723120" y="4206240"/>
            <a:ext cx="2081784" cy="1335024"/>
          </a:xfrm>
          <a:prstGeom prst="rect">
            <a:avLst/>
          </a:prstGeom>
          <a:solidFill>
            <a:srgbClr val="FFFFFF"/>
          </a:solidFill>
          <a:ln w="17780">
            <a:solidFill>
              <a:srgbClr val="1B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9723120" y="4270248"/>
            <a:ext cx="2081784" cy="1207008"/>
          </a:xfrm>
          <a:prstGeom prst="rect">
            <a:avLst/>
          </a:prstGeom>
          <a:noFill/>
        </p:spPr>
        <p:txBody>
          <a:bodyPr wrap="square" tIns="9144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19" b="1">
                <a:solidFill>
                  <a:srgbClr val="5B6E78"/>
                </a:solidFill>
                <a:latin typeface="Arial"/>
              </a:rPr>
              <a:t>SETU target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3100" b="1">
                <a:solidFill>
                  <a:srgbClr val="1B8A4C"/>
                </a:solidFill>
                <a:latin typeface="Arial"/>
              </a:rPr>
              <a:t>8–15 m</a:t>
            </a:r>
          </a:p>
          <a:p>
            <a:pPr>
              <a:lnSpc>
                <a:spcPct val="102000"/>
              </a:lnSpc>
            </a:pPr>
            <a:r>
              <a:rPr sz="860" b="0">
                <a:solidFill>
                  <a:srgbClr val="14212B"/>
                </a:solidFill>
                <a:latin typeface="Arial"/>
              </a:rPr>
              <a:t>0.8–1.5 % per km, anchored to map and field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266944" y="5596127"/>
            <a:ext cx="653796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B6E78"/>
                </a:solidFill>
                <a:latin typeface="Arial"/>
              </a:rPr>
              <a:t>Horizontal drift over a 1 km blackout at 60 km/h. The SIH ceiling is 10 % — 100 m.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5266944" y="5833871"/>
            <a:ext cx="6537960" cy="475488"/>
          </a:xfrm>
          <a:prstGeom prst="rect">
            <a:avLst/>
          </a:prstGeom>
          <a:solidFill>
            <a:srgbClr val="E8EFF3"/>
          </a:solidFill>
          <a:ln w="12700">
            <a:solidFill>
              <a:srgbClr val="143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5266944" y="5833871"/>
            <a:ext cx="6537960" cy="475488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1" dirty="0">
                <a:solidFill>
                  <a:srgbClr val="14375F"/>
                </a:solidFill>
                <a:latin typeface="Arial"/>
              </a:rPr>
              <a:t>Reach</a:t>
            </a:r>
            <a:r>
              <a:rPr sz="919" b="0" dirty="0">
                <a:solidFill>
                  <a:srgbClr val="14212B"/>
                </a:solidFill>
                <a:latin typeface="Arial"/>
              </a:rPr>
              <a:t>     any Android phone already on the dashboard — no purchase, no fitting, no connectivity. The same engine serves a FOG-grade edge unit at 200 Hz.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lnSpc>
                <a:spcPct val="92000"/>
              </a:lnSpc>
            </a:pPr>
            <a:r>
              <a:rPr sz="1000" b="1">
                <a:solidFill>
                  <a:srgbClr val="14375F"/>
                </a:solidFill>
                <a:latin typeface="Arial"/>
              </a:rPr>
              <a:t>Sanskari</a:t>
            </a:r>
            <a:endParaRPr lang="en-IN" dirty="0"/>
          </a:p>
          <a:p>
            <a:pPr algn="ctr">
              <a:lnSpc>
                <a:spcPct val="92000"/>
              </a:lnSpc>
            </a:pPr>
            <a:r>
              <a:rPr sz="1000" b="1">
                <a:solidFill>
                  <a:srgbClr val="0C6DB5"/>
                </a:solidFill>
                <a:latin typeface="Consolas"/>
              </a:rPr>
              <a:t>&lt;CODERS&gt;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84048" y="1170432"/>
            <a:ext cx="11420856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94000"/>
              </a:lnSpc>
            </a:pPr>
            <a:r>
              <a:rPr sz="1350" b="1">
                <a:solidFill>
                  <a:srgbClr val="14375F"/>
                </a:solidFill>
                <a:latin typeface="Arial"/>
              </a:rPr>
              <a:t>Details / Links of the reference and research work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384048" y="1435608"/>
            <a:ext cx="11420856" cy="0"/>
          </a:xfrm>
          <a:prstGeom prst="line">
            <a:avLst/>
          </a:prstGeom>
          <a:ln w="19050">
            <a:solidFill>
              <a:srgbClr val="14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384048" y="1609344"/>
            <a:ext cx="3660647" cy="43891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 dirty="0">
                <a:solidFill>
                  <a:srgbClr val="0C6DB5"/>
                </a:solidFill>
                <a:latin typeface="Arial"/>
              </a:rPr>
              <a:t>DATASET AND BENCHMARK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IO-VNBD: Inertial &amp; Odometry Benchmark Dataset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Data in Brief 35:106885, 2021 · github.com/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onyekpeu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/IO-VNBD · arXiv:2005.01701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 err="1">
                <a:solidFill>
                  <a:srgbClr val="14212B"/>
                </a:solidFill>
                <a:latin typeface="Arial"/>
              </a:rPr>
              <a:t>WhONet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: Wheel Odometry Neural Network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Eng. Appl. of AI, 2021 · arXiv:2104.02581 — our privileged upper bound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R-</a:t>
            </a:r>
            <a:r>
              <a:rPr sz="940" b="1" dirty="0" err="1">
                <a:solidFill>
                  <a:srgbClr val="14212B"/>
                </a:solidFill>
                <a:latin typeface="Arial"/>
              </a:rPr>
              <a:t>WhONet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: recalibration by transfer 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arXiv:2209.05877 — evidence of cross-vehicle domain shift</a:t>
            </a:r>
          </a:p>
          <a:p>
            <a:pPr>
              <a:lnSpc>
                <a:spcPct val="100000"/>
              </a:lnSpc>
              <a:spcBef>
                <a:spcPts val="1300"/>
              </a:spcBef>
              <a:spcAft>
                <a:spcPts val="500"/>
              </a:spcAft>
            </a:pPr>
            <a:r>
              <a:rPr sz="980" b="1" dirty="0">
                <a:solidFill>
                  <a:srgbClr val="0C6DB5"/>
                </a:solidFill>
                <a:latin typeface="Arial"/>
              </a:rPr>
              <a:t>LEARNED INERTIAL ODOMETRY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Deep Learning for Inertial Positioning: A Survey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Chen &amp; Pan · IEEE T-ITS, 2024 · arXiv:2303.03757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Inertial Navigation Meets Deep 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Cohen &amp; Klein · 2024 · arXiv:2307.00014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AI-IMU Dead-Reckoning — invariant EKF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Brossard, 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Barrau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 &amp; 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Bonnabel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 · IEEE T-IV, 2020 · arXiv:1904.06064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TLIO: Tight Learned Inertial Odometry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Liu et al. · IEEE RA-L, 2020 · arXiv:2007.01867 — learned covariance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 err="1">
                <a:solidFill>
                  <a:srgbClr val="14212B"/>
                </a:solidFill>
                <a:latin typeface="Arial"/>
              </a:rPr>
              <a:t>OdoNet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: untethered speed aiding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arXiv:2109.03091 · 68 % error reduction over NHC alone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 err="1">
                <a:solidFill>
                  <a:srgbClr val="14212B"/>
                </a:solidFill>
                <a:latin typeface="Arial"/>
              </a:rPr>
              <a:t>CarSpeedNet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: accelerometer-only speed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arXiv:2401.07468 · &lt;0.72 m/s ≈ 4.3 % — the accuracy to beat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264152" y="1609344"/>
            <a:ext cx="3660647" cy="43891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 dirty="0">
                <a:solidFill>
                  <a:srgbClr val="0C6DB5"/>
                </a:solidFill>
                <a:latin typeface="Arial"/>
              </a:rPr>
              <a:t>LEARNED AND ADAPTIVE FUSION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 err="1">
                <a:solidFill>
                  <a:srgbClr val="14212B"/>
                </a:solidFill>
                <a:latin typeface="Arial"/>
              </a:rPr>
              <a:t>KalmanNet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: NN-aided Kalman filtering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 err="1">
                <a:solidFill>
                  <a:srgbClr val="5B6E78"/>
                </a:solidFill>
                <a:latin typeface="Arial"/>
              </a:rPr>
              <a:t>Revach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, 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Shlezinger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, van 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Sloun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 &amp; Eldar · IEEE TSP, 2022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A-KIT: Adaptive Kalman-Informed Transformer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arXiv:2401.09987 · github.com/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ansfl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/A-KIT — learned process noise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 err="1">
                <a:solidFill>
                  <a:srgbClr val="14212B"/>
                </a:solidFill>
                <a:latin typeface="Arial"/>
              </a:rPr>
              <a:t>PiDR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: Physics-Informed Inertial Dead Reckoning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Sahoo &amp; Klein · 2026 · arXiv:2601.03040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Differentiable particle filters, semi-supervised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arXiv:2011.05748 — end-to-end learning with algorithmic priors</a:t>
            </a:r>
          </a:p>
          <a:p>
            <a:pPr>
              <a:lnSpc>
                <a:spcPct val="100000"/>
              </a:lnSpc>
              <a:spcBef>
                <a:spcPts val="1300"/>
              </a:spcBef>
              <a:spcAft>
                <a:spcPts val="500"/>
              </a:spcAft>
            </a:pPr>
            <a:r>
              <a:rPr sz="980" b="1" dirty="0">
                <a:solidFill>
                  <a:srgbClr val="0C6DB5"/>
                </a:solidFill>
                <a:latin typeface="Arial"/>
              </a:rPr>
              <a:t>MAP MATCHING AND CONSTRAINTS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Hidden Markov Map Matching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Newson &amp; Krumm · ACM SIGSPATIAL, 2009 — the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Heading–length sequence matching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arXiv:2005.13704 — nearest prior art to CSA; needs a known speed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Map-aided dead reckoning from OBD speed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arXiv:1611.07910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Lever-arm accuracy of the non-holonomic constraint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Zhang &amp; Hu · IEEE TVT, 2020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NHC-assisted GNSS/SINS with motion-state CNN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GPS Solutions, 2023 · 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doi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 10.1007/s10291-023-01483-9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144256" y="1609344"/>
            <a:ext cx="3660647" cy="43891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80" b="1" dirty="0">
                <a:solidFill>
                  <a:srgbClr val="0C6DB5"/>
                </a:solidFill>
                <a:latin typeface="Arial"/>
              </a:rPr>
              <a:t>SPECTRAL SPEED AND FIELD ANCHORS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Vehicle Speed Tracking Using Chassis Vibrations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Linköping University, 2016 — axle-order tracking, motivates tunnels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Accelerometer-based wheel odometer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Sensors, 2021 · PMC7918720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Magnetic positioning in a long tunnel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Applied Sciences 11(24):11641, 2021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Vehicle positioning in tunnels: a review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Complex &amp; Intelligent Systems, 2025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Barometric floor detection on smartphones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Sensors, 2015 · PMC4431287 — basis for the parking-level anchor</a:t>
            </a:r>
          </a:p>
          <a:p>
            <a:pPr>
              <a:lnSpc>
                <a:spcPct val="100000"/>
              </a:lnSpc>
              <a:spcBef>
                <a:spcPts val="1300"/>
              </a:spcBef>
              <a:spcAft>
                <a:spcPts val="500"/>
              </a:spcAft>
            </a:pPr>
            <a:r>
              <a:rPr sz="980" b="1" dirty="0">
                <a:solidFill>
                  <a:srgbClr val="0C6DB5"/>
                </a:solidFill>
                <a:latin typeface="Arial"/>
              </a:rPr>
              <a:t>GNSS INTEGRITY AND PLATFORM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Vehicle positioning underground using a smartphone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ISPRS Archives XLVI-3/W1, 2022 — the 3.1 %/km reference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GNSS multipath detection by machine learning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Hsu · IEEE ITSC, 2017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Android </a:t>
            </a:r>
            <a:r>
              <a:rPr sz="940" b="1" dirty="0" err="1">
                <a:solidFill>
                  <a:srgbClr val="14212B"/>
                </a:solidFill>
                <a:latin typeface="Arial"/>
              </a:rPr>
              <a:t>GnssMeasurement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 HAL — raw observables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source.android.com · </a:t>
            </a:r>
            <a:r>
              <a:rPr sz="860" b="0" dirty="0" err="1">
                <a:solidFill>
                  <a:srgbClr val="5B6E78"/>
                </a:solidFill>
                <a:latin typeface="Arial"/>
              </a:rPr>
              <a:t>pseudorange</a:t>
            </a:r>
            <a:r>
              <a:rPr sz="860" b="0" dirty="0">
                <a:solidFill>
                  <a:srgbClr val="5B6E78"/>
                </a:solidFill>
                <a:latin typeface="Arial"/>
              </a:rPr>
              <a:t>, Doppler, C/N₀, AGC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40" b="1" dirty="0">
                <a:solidFill>
                  <a:srgbClr val="14212B"/>
                </a:solidFill>
                <a:latin typeface="Arial"/>
              </a:rPr>
              <a:t>u-</a:t>
            </a:r>
            <a:r>
              <a:rPr sz="940" b="1" dirty="0" err="1">
                <a:solidFill>
                  <a:srgbClr val="14212B"/>
                </a:solidFill>
                <a:latin typeface="Arial"/>
              </a:rPr>
              <a:t>blox</a:t>
            </a:r>
            <a:r>
              <a:rPr sz="940" b="1" dirty="0">
                <a:solidFill>
                  <a:srgbClr val="14212B"/>
                </a:solidFill>
                <a:latin typeface="Arial"/>
              </a:rPr>
              <a:t> Untethered Dead Reckoning (UDR)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860" b="0" dirty="0">
                <a:solidFill>
                  <a:srgbClr val="5B6E78"/>
                </a:solidFill>
                <a:latin typeface="Arial"/>
              </a:rPr>
              <a:t>u-blox.com — the closest commercial analogue, on dedicated hardware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384048" y="6016752"/>
            <a:ext cx="11420856" cy="0"/>
          </a:xfrm>
          <a:prstGeom prst="line">
            <a:avLst/>
          </a:prstGeom>
          <a:ln w="12700">
            <a:solidFill>
              <a:srgbClr val="CDD8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84048" y="6044184"/>
            <a:ext cx="11420856" cy="150811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>
              <a:lnSpc>
                <a:spcPct val="100000"/>
              </a:lnSpc>
            </a:pPr>
            <a:endParaRPr sz="860" b="0" dirty="0">
              <a:solidFill>
                <a:srgbClr val="5B6E78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7495</TotalTime>
  <Words>1972</Words>
  <Application>Microsoft Office PowerPoint</Application>
  <PresentationFormat>Widescreen</PresentationFormat>
  <Paragraphs>270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Consolas</vt:lpstr>
      <vt:lpstr>Garamond</vt:lpstr>
      <vt:lpstr>Times New Roman</vt:lpstr>
      <vt:lpstr>TradeGothic</vt:lpstr>
      <vt:lpstr>Office Theme</vt:lpstr>
      <vt:lpstr>SMART INDIA HACKATHON 2026</vt:lpstr>
      <vt:lpstr>SETU — NAVIGATION WITHOUT GNSS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Lakshya Jain</cp:lastModifiedBy>
  <cp:revision>148</cp:revision>
  <dcterms:created xsi:type="dcterms:W3CDTF">2013-12-12T18:46:50Z</dcterms:created>
  <dcterms:modified xsi:type="dcterms:W3CDTF">2026-09-02T17:56:28Z</dcterms:modified>
  <cp:category/>
</cp:coreProperties>
</file>