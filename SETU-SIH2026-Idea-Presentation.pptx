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2300" b="1">
                <a:solidFill>
                  <a:srgbClr val="14375F"/>
                </a:solidFill>
                <a:latin typeface="Times New Roman"/>
              </a:rPr>
              <a:t>SETU · INTELLIGENT DEAD RECKONING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1975104"/>
            <a:ext cx="6053328" cy="42245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Problem Statement ID –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Problem Statement Title-  </a:t>
            </a:r>
            <a:r>
              <a:rPr sz="1900" b="0">
                <a:solidFill>
                  <a:srgbClr val="14212B"/>
                </a:solidFill>
                <a:latin typeface="Arial"/>
              </a:rPr>
              <a:t>AI-ML based Intelligent Dead Reckoning system for seamless navigation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Theme-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PS Category-  </a:t>
            </a:r>
            <a:r>
              <a:rPr sz="1900" b="0">
                <a:solidFill>
                  <a:srgbClr val="14212B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Team ID-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Team Name (Registered on portal)-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355080"/>
            <a:ext cx="11365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SETU</a:t>
            </a:r>
            <a:r>
              <a:rPr sz="1100" b="0">
                <a:solidFill>
                  <a:srgbClr val="D6E3EC"/>
                </a:solidFill>
                <a:latin typeface="Arial"/>
              </a:rPr>
              <a:t>   ·   Seamless Egomotion Tracking under Unavailable-GNSS</a:t>
            </a:r>
            <a:r>
              <a:rPr sz="1100" b="0">
                <a:solidFill>
                  <a:srgbClr val="FFFFFF"/>
                </a:solidFill>
                <a:latin typeface="Arial"/>
              </a:rPr>
              <a:t>      lane-level position in GNSS-denied environments, from a smartphone IMU alone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SETU — NAVIGATION WITHOUT GNSS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84048" y="1207008"/>
            <a:ext cx="11420856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6000"/>
              </a:lnSpc>
            </a:pPr>
            <a:r>
              <a:rPr sz="1700" b="1">
                <a:solidFill>
                  <a:srgbClr val="14375F"/>
                </a:solidFill>
                <a:latin typeface="Arial"/>
              </a:rPr>
              <a:t>Every phone-only system integrates acceleration twice, so its error grows as t². </a:t>
            </a:r>
            <a:r>
              <a:rPr sz="1700" b="0">
                <a:solidFill>
                  <a:srgbClr val="14212B"/>
                </a:solidFill>
                <a:latin typeface="Arial"/>
              </a:rPr>
              <a:t>SETU asks a different question — how far along this road am I — and answers it with three measurements whose error does not accumulate with time.</a:t>
            </a:r>
          </a:p>
        </p:txBody>
      </p:sp>
      <p:cxnSp>
        <p:nvCxnSpPr>
          <p:cNvPr id="15363" name="Connector 15362"/>
          <p:cNvCxnSpPr/>
          <p:nvPr/>
        </p:nvCxnSpPr>
        <p:spPr>
          <a:xfrm>
            <a:off x="384048" y="1975104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4" name="TextBox 15363"/>
          <p:cNvSpPr txBox="1"/>
          <p:nvPr/>
        </p:nvSpPr>
        <p:spPr>
          <a:xfrm>
            <a:off x="384048" y="2103120"/>
            <a:ext cx="367284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150" b="1">
                <a:solidFill>
                  <a:srgbClr val="14375F"/>
                </a:solidFill>
                <a:latin typeface="Arial"/>
              </a:rPr>
              <a:t>Detailed explanation of the proposed solution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384048" y="2368296"/>
            <a:ext cx="3672840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/>
          <p:cNvSpPr txBox="1"/>
          <p:nvPr/>
        </p:nvSpPr>
        <p:spPr>
          <a:xfrm>
            <a:off x="384048" y="2487168"/>
            <a:ext cx="3672840" cy="3017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919" b="0">
                <a:solidFill>
                  <a:srgbClr val="5B6E78"/>
                </a:solidFill>
                <a:latin typeface="Arial"/>
              </a:rPr>
              <a:t>One C++ engine, two shells: Android app and edge daemon.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ACE   </a:t>
            </a:r>
            <a:r>
              <a:rPr sz="919" b="0">
                <a:solidFill>
                  <a:srgbClr val="14212B"/>
                </a:solidFill>
                <a:latin typeface="Arial"/>
              </a:rPr>
              <a:t>solves phone→vehicle pitch, roll and yaw online. No user calibration; re-aligns in under 2 s after a knock.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MSVR   </a:t>
            </a:r>
            <a:r>
              <a:rPr sz="919" b="0">
                <a:solidFill>
                  <a:srgbClr val="14212B"/>
                </a:solidFill>
                <a:latin typeface="Arial"/>
              </a:rPr>
              <a:t>classifies motion and mount quality, so potholes, idling and phone handling gate every other module.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SVO   </a:t>
            </a:r>
            <a:r>
              <a:rPr sz="919" b="0">
                <a:solidFill>
                  <a:srgbClr val="14212B"/>
                </a:solidFill>
                <a:latin typeface="Arial"/>
              </a:rPr>
              <a:t>reads ground speed off the axle harmonics already present in the accelerometer spectrum.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CTS   </a:t>
            </a:r>
            <a:r>
              <a:rPr sz="919" b="0">
                <a:solidFill>
                  <a:srgbClr val="14212B"/>
                </a:solidFill>
                <a:latin typeface="Arial"/>
              </a:rPr>
              <a:t>reads absolute speed from lateral force ÷ yaw rate in every turn — lean-corrected for two-wheelers.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CSA   </a:t>
            </a:r>
            <a:r>
              <a:rPr sz="919" b="0">
                <a:solidFill>
                  <a:srgbClr val="14212B"/>
                </a:solidFill>
                <a:latin typeface="Arial"/>
              </a:rPr>
              <a:t>registers the gyro-derived path shape onto an offline OSM road manifold.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EFA   </a:t>
            </a:r>
            <a:r>
              <a:rPr sz="919" b="0">
                <a:solidFill>
                  <a:srgbClr val="14212B"/>
                </a:solidFill>
                <a:latin typeface="Arial"/>
              </a:rPr>
              <a:t>magnetic, barometric and radio anchors, built by ordinary driving rather than by a survey fleet.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IAF   </a:t>
            </a:r>
            <a:r>
              <a:rPr sz="919" b="0">
                <a:solidFill>
                  <a:srgbClr val="14212B"/>
                </a:solidFill>
                <a:latin typeface="Arial"/>
              </a:rPr>
              <a:t>invariant EKF on SE₂(3) with learned noise, inside a road-graph particle filter.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GQM   </a:t>
            </a:r>
            <a:r>
              <a:rPr sz="919" b="0">
                <a:solidFill>
                  <a:srgbClr val="14212B"/>
                </a:solidFill>
                <a:latin typeface="Arial"/>
              </a:rPr>
              <a:t>per-satellite trust from raw GNSS — handover ramps, never switches.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384048" y="5705856"/>
            <a:ext cx="3672840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384048" y="5705856"/>
            <a:ext cx="367284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375F"/>
                </a:solidFill>
                <a:latin typeface="Consolas"/>
              </a:rPr>
              <a:t>3.6 MB</a:t>
            </a:r>
            <a:r>
              <a:rPr sz="880" b="0">
                <a:solidFill>
                  <a:srgbClr val="5B6E78"/>
                </a:solidFill>
                <a:latin typeface="Arial"/>
              </a:rPr>
              <a:t> int8 models   </a:t>
            </a:r>
            <a:r>
              <a:rPr sz="1000" b="1">
                <a:solidFill>
                  <a:srgbClr val="14375F"/>
                </a:solidFill>
                <a:latin typeface="Consolas"/>
              </a:rPr>
              <a:t>2.7 ms</a:t>
            </a:r>
            <a:r>
              <a:rPr sz="880" b="0">
                <a:solidFill>
                  <a:srgbClr val="5B6E78"/>
                </a:solidFill>
                <a:latin typeface="Arial"/>
              </a:rPr>
              <a:t> per tick   </a:t>
            </a:r>
            <a:r>
              <a:rPr sz="1000" b="1">
                <a:solidFill>
                  <a:srgbClr val="14375F"/>
                </a:solidFill>
                <a:latin typeface="Consolas"/>
              </a:rPr>
              <a:t>10 Hz</a:t>
            </a:r>
            <a:r>
              <a:rPr sz="880" b="0">
                <a:solidFill>
                  <a:srgbClr val="5B6E78"/>
                </a:solidFill>
                <a:latin typeface="Arial"/>
              </a:rPr>
              <a:t> phone   </a:t>
            </a:r>
            <a:r>
              <a:rPr sz="1000" b="1">
                <a:solidFill>
                  <a:srgbClr val="14375F"/>
                </a:solidFill>
                <a:latin typeface="Consolas"/>
              </a:rPr>
              <a:t>200 Hz</a:t>
            </a:r>
            <a:r>
              <a:rPr sz="880" b="0">
                <a:solidFill>
                  <a:srgbClr val="5B6E78"/>
                </a:solidFill>
                <a:latin typeface="Arial"/>
              </a:rPr>
              <a:t> edge   ·   fully offline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258056" y="2103120"/>
            <a:ext cx="367284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150" b="1">
                <a:solidFill>
                  <a:srgbClr val="14375F"/>
                </a:solidFill>
                <a:latin typeface="Arial"/>
              </a:rPr>
              <a:t>How it addresses the problem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4258056" y="2368296"/>
            <a:ext cx="3672839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71" name="Picture 15370" descr="fig-error-l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056" y="2505456"/>
            <a:ext cx="3672840" cy="2057143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4258056" y="4672327"/>
            <a:ext cx="3672840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B3261E"/>
                </a:solidFill>
                <a:latin typeface="Arial"/>
              </a:rPr>
              <a:t>Integrating   </a:t>
            </a:r>
            <a:r>
              <a:rPr sz="940" b="0">
                <a:solidFill>
                  <a:srgbClr val="14212B"/>
                </a:solidFill>
                <a:latin typeface="Arial"/>
              </a:rPr>
              <a:t>a 0.1 m/s² bias gives ½·b·t² = 180 m in one minute. No network repairs a double integrator.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E8761F"/>
                </a:solidFill>
                <a:latin typeface="Arial"/>
              </a:rPr>
              <a:t>Aiding velocity   </a:t>
            </a:r>
            <a:r>
              <a:rPr sz="940" b="0">
                <a:solidFill>
                  <a:srgbClr val="14212B"/>
                </a:solidFill>
                <a:latin typeface="Arial"/>
              </a:rPr>
              <a:t>makes the error linear in distance — 31 m per km at the 3.1 %/km published for a smartphone in a real tunnel.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B8A4C"/>
                </a:solidFill>
                <a:latin typeface="Arial"/>
              </a:rPr>
              <a:t>Registering position   </a:t>
            </a:r>
            <a:r>
              <a:rPr sz="940" b="0">
                <a:solidFill>
                  <a:srgbClr val="14212B"/>
                </a:solidFill>
                <a:latin typeface="Arial"/>
              </a:rPr>
              <a:t>makes it bounded: error resets at every curvature landmark and field anchor, so it stops growing with time.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132063" y="2103120"/>
            <a:ext cx="367284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150" b="1">
                <a:solidFill>
                  <a:srgbClr val="14375F"/>
                </a:solidFill>
                <a:latin typeface="Arial"/>
              </a:rPr>
              <a:t>Innovation and uniqueness of the solution</a:t>
            </a:r>
          </a:p>
        </p:txBody>
      </p:sp>
      <p:cxnSp>
        <p:nvCxnSpPr>
          <p:cNvPr id="15374" name="Connector 15373"/>
          <p:cNvCxnSpPr/>
          <p:nvPr/>
        </p:nvCxnSpPr>
        <p:spPr>
          <a:xfrm>
            <a:off x="8132063" y="2368296"/>
            <a:ext cx="3672841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5" name="TextBox 15374"/>
          <p:cNvSpPr txBox="1"/>
          <p:nvPr/>
        </p:nvSpPr>
        <p:spPr>
          <a:xfrm>
            <a:off x="8132063" y="2487168"/>
            <a:ext cx="3672840" cy="208483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N1   </a:t>
            </a:r>
            <a:r>
              <a:rPr sz="900" b="0">
                <a:solidFill>
                  <a:srgbClr val="14212B"/>
                </a:solidFill>
                <a:latin typeface="Arial"/>
              </a:rPr>
              <a:t>Speed from frequency, not integration. Chassis-vibration speed tracking exists in the DSP literature and has never been fused into a navigation filter.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N2   </a:t>
            </a:r>
            <a:r>
              <a:rPr sz="900" b="0">
                <a:solidFill>
                  <a:srgbClr val="14212B"/>
                </a:solidFill>
                <a:latin typeface="Arial"/>
              </a:rPr>
              <a:t>Two-wheeler physics done right: v = g·sinφ / ωz. Omitting cosφ is a silent 4 % scale error — 40 m per km.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N3   </a:t>
            </a:r>
            <a:r>
              <a:rPr sz="900" b="0">
                <a:solidFill>
                  <a:srgbClr val="14212B"/>
                </a:solidFill>
                <a:latin typeface="Arial"/>
              </a:rPr>
              <a:t>Scale-free map registration. Prior shape-matching work needs an odometer; we solve for the scale itself.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N4   </a:t>
            </a:r>
            <a:r>
              <a:rPr sz="900" b="0">
                <a:solidFill>
                  <a:srgbClr val="14212B"/>
                </a:solidFill>
                <a:latin typeface="Arial"/>
              </a:rPr>
              <a:t>IO-VNBD's synchronised CAN wheel speeds used as a training-only teacher instead of noisy GPS speed.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N5   </a:t>
            </a:r>
            <a:r>
              <a:rPr sz="900" b="0">
                <a:solidFill>
                  <a:srgbClr val="14212B"/>
                </a:solidFill>
                <a:latin typeface="Arial"/>
              </a:rPr>
              <a:t>Learned σ and learned Q inside one invariant filter, multi-hypothesis over the road graph.</a:t>
            </a:r>
          </a:p>
        </p:txBody>
      </p:sp>
      <p:pic>
        <p:nvPicPr>
          <p:cNvPr id="15376" name="Picture 15375" descr="fig-spectro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063" y="4407408"/>
            <a:ext cx="3672840" cy="1527407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8132063" y="5989679"/>
            <a:ext cx="367284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N1 evidence — axle orders rise continuously with speed while engine orders step down at each upshift. That step is a free training label.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Methodology and process for implementation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ectangle 17411"/>
          <p:cNvSpPr/>
          <p:nvPr/>
        </p:nvSpPr>
        <p:spPr>
          <a:xfrm>
            <a:off x="384048" y="1645920"/>
            <a:ext cx="1874519" cy="274320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645920"/>
            <a:ext cx="1874519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SENSE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84048" y="1920240"/>
            <a:ext cx="1874519" cy="159105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1965960"/>
            <a:ext cx="1874519" cy="1207008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Accel + gyro</a:t>
            </a:r>
            <a:r>
              <a:rPr sz="840" b="0">
                <a:solidFill>
                  <a:srgbClr val="5B6E78"/>
                </a:solidFill>
                <a:latin typeface="Arial"/>
              </a:rPr>
              <a:t>   200–400 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Magnetometer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Barometer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GNSS raw</a:t>
            </a:r>
            <a:r>
              <a:rPr sz="840" b="0">
                <a:solidFill>
                  <a:srgbClr val="5B6E78"/>
                </a:solidFill>
                <a:latin typeface="Arial"/>
              </a:rPr>
              <a:t>   incl. NavIC L5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External IMU</a:t>
            </a:r>
            <a:r>
              <a:rPr sz="840" b="0">
                <a:solidFill>
                  <a:srgbClr val="5B6E78"/>
                </a:solidFill>
                <a:latin typeface="Arial"/>
              </a:rPr>
              <a:t>   MEMS / FOG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57200" y="3209544"/>
            <a:ext cx="1728215" cy="0"/>
          </a:xfrm>
          <a:prstGeom prst="line">
            <a:avLst/>
          </a:prstGeom>
          <a:ln w="9525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384048" y="3227832"/>
            <a:ext cx="1874519" cy="265176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1">
                <a:solidFill>
                  <a:srgbClr val="0C6DB5"/>
                </a:solidFill>
                <a:latin typeface="Arial"/>
              </a:rPr>
              <a:t>no OBD-II · no vehicle bus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532888" y="1645920"/>
            <a:ext cx="1783080" cy="274320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2532888" y="1645920"/>
            <a:ext cx="178308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CONDITION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532888" y="1920240"/>
            <a:ext cx="1783080" cy="159105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2532888" y="1965960"/>
            <a:ext cx="1783080" cy="1207008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STFT</a:t>
            </a:r>
            <a:r>
              <a:rPr sz="840" b="0">
                <a:solidFill>
                  <a:srgbClr val="5B6E78"/>
                </a:solidFill>
                <a:latin typeface="Arial"/>
              </a:rPr>
              <a:t>   2.56 s / 0.1 s hop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Harmonic ridge</a:t>
            </a:r>
            <a:r>
              <a:rPr sz="840" b="0">
                <a:solidFill>
                  <a:srgbClr val="5B6E78"/>
                </a:solidFill>
                <a:latin typeface="Arial"/>
              </a:rPr>
              <a:t>   Viterbi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Adaptive notch</a:t>
            </a:r>
            <a:r>
              <a:rPr sz="840" b="0">
                <a:solidFill>
                  <a:srgbClr val="5B6E78"/>
                </a:solidFill>
                <a:latin typeface="Arial"/>
              </a:rPr>
              <a:t>   engine order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Shock tagging</a:t>
            </a:r>
            <a:r>
              <a:rPr sz="840" b="0">
                <a:solidFill>
                  <a:srgbClr val="5B6E78"/>
                </a:solidFill>
                <a:latin typeface="Arial"/>
              </a:rPr>
              <a:t>   potholes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MSVR</a:t>
            </a:r>
            <a:r>
              <a:rPr sz="840" b="0">
                <a:solidFill>
                  <a:srgbClr val="5B6E78"/>
                </a:solidFill>
                <a:latin typeface="Arial"/>
              </a:rPr>
              <a:t>   motion + mount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2606040" y="3209544"/>
            <a:ext cx="1636776" cy="0"/>
          </a:xfrm>
          <a:prstGeom prst="line">
            <a:avLst/>
          </a:prstGeom>
          <a:ln w="9525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2532888" y="3227832"/>
            <a:ext cx="1783080" cy="265176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1">
                <a:solidFill>
                  <a:srgbClr val="0C6DB5"/>
                </a:solidFill>
                <a:latin typeface="Arial"/>
              </a:rPr>
              <a:t>ACE solves the mount online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4590288" y="1645920"/>
            <a:ext cx="3154680" cy="274320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590288" y="1645920"/>
            <a:ext cx="315468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OBSERVE  ·  measurement generators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590288" y="1920240"/>
            <a:ext cx="3154680" cy="159105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590288" y="1965960"/>
            <a:ext cx="3154680" cy="1207008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SVO</a:t>
            </a:r>
            <a:r>
              <a:rPr sz="840" b="0">
                <a:solidFill>
                  <a:srgbClr val="5B6E78"/>
                </a:solidFill>
                <a:latin typeface="Arial"/>
              </a:rPr>
              <a:t>   ground speed from axle harmonics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CTS</a:t>
            </a:r>
            <a:r>
              <a:rPr sz="840" b="0">
                <a:solidFill>
                  <a:srgbClr val="5B6E78"/>
                </a:solidFill>
                <a:latin typeface="Arial"/>
              </a:rPr>
              <a:t>   absolute speed from lateral force ÷ yaw rate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CSA</a:t>
            </a:r>
            <a:r>
              <a:rPr sz="840" b="0">
                <a:solidFill>
                  <a:srgbClr val="5B6E78"/>
                </a:solidFill>
                <a:latin typeface="Arial"/>
              </a:rPr>
              <a:t>   arc length from map shape, scale-free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EFA</a:t>
            </a:r>
            <a:r>
              <a:rPr sz="840" b="0">
                <a:solidFill>
                  <a:srgbClr val="5B6E78"/>
                </a:solidFill>
                <a:latin typeface="Arial"/>
              </a:rPr>
              <a:t>   magnetic / barometric / radio anchors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NHC · ZUPT</a:t>
            </a:r>
            <a:r>
              <a:rPr sz="840" b="0">
                <a:solidFill>
                  <a:srgbClr val="5B6E78"/>
                </a:solidFill>
                <a:latin typeface="Arial"/>
              </a:rPr>
              <a:t>   zero lateral, vertical, stopped velocity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GQM</a:t>
            </a:r>
            <a:r>
              <a:rPr sz="840" b="0">
                <a:solidFill>
                  <a:srgbClr val="5B6E78"/>
                </a:solidFill>
                <a:latin typeface="Arial"/>
              </a:rPr>
              <a:t>   per-satellite GNSS trust + Doppler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4663440" y="3209544"/>
            <a:ext cx="3008376" cy="0"/>
          </a:xfrm>
          <a:prstGeom prst="line">
            <a:avLst/>
          </a:prstGeom>
          <a:ln w="9525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4590288" y="3227832"/>
            <a:ext cx="3154680" cy="265176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1">
                <a:solidFill>
                  <a:srgbClr val="0C6DB5"/>
                </a:solidFill>
                <a:latin typeface="Arial"/>
              </a:rPr>
              <a:t>each emits ⟨ value, covariance, validity, timestamp ⟩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8019288" y="1645920"/>
            <a:ext cx="2103120" cy="274320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8019288" y="164592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FUSE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8019288" y="1920240"/>
            <a:ext cx="2103120" cy="159105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019288" y="1965960"/>
            <a:ext cx="2103120" cy="1207008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RI-EKF</a:t>
            </a:r>
            <a:r>
              <a:rPr sz="840" b="0">
                <a:solidFill>
                  <a:srgbClr val="5B6E78"/>
                </a:solidFill>
                <a:latin typeface="Arial"/>
              </a:rPr>
              <a:t>   on SE₂(3) × θ, 23 states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Learned σ</a:t>
            </a:r>
            <a:r>
              <a:rPr sz="840" b="0">
                <a:solidFill>
                  <a:srgbClr val="5B6E78"/>
                </a:solidFill>
                <a:latin typeface="Arial"/>
              </a:rPr>
              <a:t>   per measurement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Learned Q</a:t>
            </a:r>
            <a:r>
              <a:rPr sz="840" b="0">
                <a:solidFill>
                  <a:srgbClr val="5B6E78"/>
                </a:solidFill>
                <a:latin typeface="Arial"/>
              </a:rPr>
              <a:t>   transformer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RB-PF</a:t>
            </a:r>
            <a:r>
              <a:rPr sz="840" b="0">
                <a:solidFill>
                  <a:srgbClr val="5B6E78"/>
                </a:solidFill>
                <a:latin typeface="Arial"/>
              </a:rPr>
              <a:t>   over the road graph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64 / 256</a:t>
            </a:r>
            <a:r>
              <a:rPr sz="840" b="0">
                <a:solidFill>
                  <a:srgbClr val="5B6E78"/>
                </a:solidFill>
                <a:latin typeface="Arial"/>
              </a:rPr>
              <a:t>   particles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8092440" y="3209544"/>
            <a:ext cx="1956815" cy="0"/>
          </a:xfrm>
          <a:prstGeom prst="line">
            <a:avLst/>
          </a:prstGeom>
          <a:ln w="9525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8019288" y="3227832"/>
            <a:ext cx="2103120" cy="265176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1">
                <a:solidFill>
                  <a:srgbClr val="0C6DB5"/>
                </a:solidFill>
                <a:latin typeface="Arial"/>
              </a:rPr>
              <a:t>χ² gating · stochastic cloning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10396728" y="1645920"/>
            <a:ext cx="1417320" cy="274320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10396728" y="1645920"/>
            <a:ext cx="141732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10396728" y="1920240"/>
            <a:ext cx="1417320" cy="159105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10396728" y="1965960"/>
            <a:ext cx="1417320" cy="1207008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10 Hz</a:t>
            </a:r>
            <a:r>
              <a:rPr sz="840" b="0">
                <a:solidFill>
                  <a:srgbClr val="5B6E78"/>
                </a:solidFill>
                <a:latin typeface="Arial"/>
              </a:rPr>
              <a:t>   phone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200 Hz</a:t>
            </a:r>
            <a:r>
              <a:rPr sz="840" b="0">
                <a:solidFill>
                  <a:srgbClr val="5B6E78"/>
                </a:solidFill>
                <a:latin typeface="Arial"/>
              </a:rPr>
              <a:t>   edge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Lane-level</a:t>
            </a:r>
            <a:r>
              <a:rPr sz="840" b="0">
                <a:solidFill>
                  <a:srgbClr val="5B6E78"/>
                </a:solidFill>
                <a:latin typeface="Arial"/>
              </a:rPr>
              <a:t>   pose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Confidence tube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14375F"/>
                </a:solidFill>
                <a:latin typeface="Arial"/>
              </a:rPr>
              <a:t>gRPC · NMEA · ROS 2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0469880" y="3209544"/>
            <a:ext cx="1271016" cy="0"/>
          </a:xfrm>
          <a:prstGeom prst="line">
            <a:avLst/>
          </a:prstGeom>
          <a:ln w="9525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TextBox 17440"/>
          <p:cNvSpPr txBox="1"/>
          <p:nvPr/>
        </p:nvSpPr>
        <p:spPr>
          <a:xfrm>
            <a:off x="10396728" y="3227832"/>
            <a:ext cx="1417320" cy="265176"/>
          </a:xfrm>
          <a:prstGeom prst="rect">
            <a:avLst/>
          </a:prstGeom>
          <a:noFill/>
        </p:spPr>
        <p:txBody>
          <a:bodyPr wrap="square" lIns="64008" rIns="64008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1">
                <a:solidFill>
                  <a:srgbClr val="0C6DB5"/>
                </a:solidFill>
                <a:latin typeface="Arial"/>
              </a:rPr>
              <a:t>no jump on re-acquire</a:t>
            </a:r>
          </a:p>
        </p:txBody>
      </p:sp>
      <p:sp>
        <p:nvSpPr>
          <p:cNvPr id="17442" name="Right Arrow 17441"/>
          <p:cNvSpPr/>
          <p:nvPr/>
        </p:nvSpPr>
        <p:spPr>
          <a:xfrm>
            <a:off x="2286000" y="2615184"/>
            <a:ext cx="219456" cy="201168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ight Arrow 17442"/>
          <p:cNvSpPr/>
          <p:nvPr/>
        </p:nvSpPr>
        <p:spPr>
          <a:xfrm>
            <a:off x="4343400" y="2615184"/>
            <a:ext cx="219456" cy="201168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ight Arrow 17443"/>
          <p:cNvSpPr/>
          <p:nvPr/>
        </p:nvSpPr>
        <p:spPr>
          <a:xfrm>
            <a:off x="7772400" y="2615184"/>
            <a:ext cx="219456" cy="201168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ight Arrow 17444"/>
          <p:cNvSpPr/>
          <p:nvPr/>
        </p:nvSpPr>
        <p:spPr>
          <a:xfrm>
            <a:off x="10149840" y="2615184"/>
            <a:ext cx="219456" cy="201168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384048" y="3712463"/>
            <a:ext cx="4069080" cy="457200"/>
          </a:xfrm>
          <a:prstGeom prst="rect">
            <a:avLst/>
          </a:prstGeom>
          <a:solidFill>
            <a:srgbClr val="E8EFF3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384048" y="3712463"/>
            <a:ext cx="4069080" cy="457200"/>
          </a:xfrm>
          <a:prstGeom prst="rect">
            <a:avLst/>
          </a:prstGeom>
          <a:noFill/>
        </p:spPr>
        <p:txBody>
          <a:bodyPr wrap="square" lIns="64008" rIns="64008" tIns="18288" bIns="18288" anchor="ctr">
            <a:spAutoFit/>
          </a:bodyPr>
          <a:lstStyle/>
          <a:p>
            <a:pPr>
              <a:lnSpc>
                <a:spcPct val="100000"/>
              </a:lnSpc>
            </a:pPr>
            <a:r>
              <a:rPr sz="860" b="1">
                <a:solidFill>
                  <a:srgbClr val="14375F"/>
                </a:solidFill>
                <a:latin typeface="Arial"/>
              </a:rPr>
              <a:t>TRAINED OFF-DEVICE</a:t>
            </a:r>
            <a:r>
              <a:rPr sz="819" b="0">
                <a:solidFill>
                  <a:srgbClr val="14212B"/>
                </a:solidFill>
                <a:latin typeface="Arial"/>
              </a:rPr>
              <a:t>   masked-IMU pretraining → privileged distillation from CAN → BPTT through the filter → int8 export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4590288" y="3712463"/>
            <a:ext cx="5532120" cy="457200"/>
          </a:xfrm>
          <a:prstGeom prst="rect">
            <a:avLst/>
          </a:prstGeom>
          <a:solidFill>
            <a:srgbClr val="E8EFF3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4590288" y="3712463"/>
            <a:ext cx="5532120" cy="457200"/>
          </a:xfrm>
          <a:prstGeom prst="rect">
            <a:avLst/>
          </a:prstGeom>
          <a:noFill/>
        </p:spPr>
        <p:txBody>
          <a:bodyPr wrap="square" lIns="64008" rIns="6400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14375F"/>
                </a:solidFill>
                <a:latin typeface="Arial"/>
              </a:rPr>
              <a:t>OFFLINE MAP &amp; ANCHOR BUNDLE</a:t>
            </a:r>
            <a:r>
              <a:rPr sz="819" b="0">
                <a:solidFill>
                  <a:srgbClr val="14212B"/>
                </a:solidFill>
                <a:latin typeface="Arial"/>
              </a:rPr>
              <a:t>   OSM routing graph · ψ(s), κ(s) curvature LUT @ 1 m · DEM · magnetic and baro anchor DB · ≤250 MB per metro region</a:t>
            </a:r>
          </a:p>
        </p:txBody>
      </p:sp>
      <p:sp>
        <p:nvSpPr>
          <p:cNvPr id="17450" name="Up Arrow 17449"/>
          <p:cNvSpPr/>
          <p:nvPr/>
        </p:nvSpPr>
        <p:spPr>
          <a:xfrm>
            <a:off x="5989320" y="3557015"/>
            <a:ext cx="182880" cy="146304"/>
          </a:xfrm>
          <a:prstGeom prst="up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Up Arrow 17450"/>
          <p:cNvSpPr/>
          <p:nvPr/>
        </p:nvSpPr>
        <p:spPr>
          <a:xfrm>
            <a:off x="8549640" y="3557015"/>
            <a:ext cx="182880" cy="146304"/>
          </a:xfrm>
          <a:prstGeom prst="up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384048" y="4370832"/>
            <a:ext cx="11420856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Technologies to be used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384048" y="4636008"/>
            <a:ext cx="11420856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ectangle 17453"/>
          <p:cNvSpPr/>
          <p:nvPr/>
        </p:nvSpPr>
        <p:spPr>
          <a:xfrm>
            <a:off x="384048" y="4791456"/>
            <a:ext cx="2211019" cy="14264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384048" y="4837176"/>
            <a:ext cx="2211019" cy="1335024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Models &amp; training</a:t>
            </a:r>
          </a:p>
          <a:p>
            <a:pPr>
              <a:lnSpc>
                <a:spcPct val="104000"/>
              </a:lnSpc>
            </a:pPr>
            <a:r>
              <a:rPr sz="880" b="0">
                <a:solidFill>
                  <a:srgbClr val="14212B"/>
                </a:solidFill>
                <a:latin typeface="Arial"/>
              </a:rPr>
              <a:t>PyTorch 2.5 · Lightning · Hydra · Polars · MLflow · masked-IMU pretraining · privileged distillation from the CAN bus · differentiable-filter BPTT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2686507" y="4791456"/>
            <a:ext cx="2211019" cy="14264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2686507" y="4837176"/>
            <a:ext cx="2211019" cy="1335024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On-device ML</a:t>
            </a:r>
          </a:p>
          <a:p>
            <a:pPr>
              <a:lnSpc>
                <a:spcPct val="104000"/>
              </a:lnSpc>
            </a:pPr>
            <a:r>
              <a:rPr sz="880" b="0">
                <a:solidFill>
                  <a:srgbClr val="14212B"/>
                </a:solidFill>
                <a:latin typeface="Arial"/>
              </a:rPr>
              <a:t>LiteRT + XNNPACK · ExecuTorch · int8 post-training quantisation, QAT on the velocity head · export parity asserted in m/s, not in tensor MSE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4988966" y="4791456"/>
            <a:ext cx="2211019" cy="14264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4988966" y="4837176"/>
            <a:ext cx="2211019" cy="1335024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Engine core</a:t>
            </a:r>
          </a:p>
          <a:p>
            <a:pPr>
              <a:lnSpc>
                <a:spcPct val="104000"/>
              </a:lnSpc>
            </a:pPr>
            <a:r>
              <a:rPr sz="880" b="0">
                <a:solidFill>
                  <a:srgbClr val="14212B"/>
                </a:solidFill>
                <a:latin typeface="Arial"/>
              </a:rPr>
              <a:t>C++20 · Eigen 3.4 · SE₂(3) Lie algebra · FlatBuffers + protobuf · GTest with golden-replay determinism · one core, two shells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7291425" y="4791456"/>
            <a:ext cx="2211019" cy="14264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91425" y="4837176"/>
            <a:ext cx="2211019" cy="1335024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Mobile</a:t>
            </a:r>
          </a:p>
          <a:p>
            <a:pPr>
              <a:lnSpc>
                <a:spcPct val="104000"/>
              </a:lnSpc>
            </a:pPr>
            <a:r>
              <a:rPr sz="880" b="0">
                <a:solidFill>
                  <a:srgbClr val="14212B"/>
                </a:solidFill>
                <a:latin typeface="Arial"/>
              </a:rPr>
              <a:t>Kotlin 2.0 · Jetpack Compose · MapLibre GL + PMTiles offline basemap · SensorDirectChannel · GnssMeasurementsEvent · foreground service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9593884" y="4791456"/>
            <a:ext cx="2211019" cy="14264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9593884" y="4837176"/>
            <a:ext cx="2211019" cy="1335024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Edge &amp; maps</a:t>
            </a:r>
          </a:p>
          <a:p>
            <a:pPr>
              <a:lnSpc>
                <a:spcPct val="104000"/>
              </a:lnSpc>
            </a:pPr>
            <a:r>
              <a:rPr sz="880" b="0">
                <a:solidFill>
                  <a:srgbClr val="14212B"/>
                </a:solidFill>
                <a:latin typeface="Arial"/>
              </a:rPr>
              <a:t>aarch64 static binary · gRPC / NMEA-0183 / ROS 2 · ADIS16505 and FOG at 200 Hz · osmium · CartoDEM · tippecanoe → PMTiles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3584448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Analysis of the feasibility of the idea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3584448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3584448" cy="2926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Data already in hand.   </a:t>
            </a:r>
            <a:r>
              <a:rPr sz="940" b="0">
                <a:solidFill>
                  <a:srgbClr val="14212B"/>
                </a:solidFill>
                <a:latin typeface="Arial"/>
              </a:rPr>
              <a:t>IO-VNBD gives 5,700 km over 98 h with the phone IMU and the CAN bus recorded simultaneously — both the input and a clean label.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The load-bearing physics is closed-form.   </a:t>
            </a:r>
            <a:r>
              <a:rPr sz="940" b="0">
                <a:solidFill>
                  <a:srgbClr val="14212B"/>
                </a:solidFill>
                <a:latin typeface="Arial"/>
              </a:rPr>
              <a:t>v = a_lat / Ω and f = v / 2πR are algebra, not training. Only the residuals are learned, so the core carries no research risk.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Compute fits today's phones.   </a:t>
            </a:r>
            <a:r>
              <a:rPr sz="940" b="0">
                <a:solidFill>
                  <a:srgbClr val="14212B"/>
                </a:solidFill>
                <a:latin typeface="Arial"/>
              </a:rPr>
              <a:t>3.6 MB of int8 models, 2.7 ms per 10 Hz tick, CPU only — no NPU or GPU delegate dependency across low-end SKUs.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The sensors are already there.   </a:t>
            </a:r>
            <a:r>
              <a:rPr sz="940" b="0">
                <a:solidFill>
                  <a:srgbClr val="14212B"/>
                </a:solidFill>
                <a:latin typeface="Arial"/>
              </a:rPr>
              <a:t>Accelerometer, gyroscope, magnetometer, barometer and raw GNSS including NavIC L5 are exposed by standard Android APIs.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Maps are tractable offline.   </a:t>
            </a:r>
            <a:r>
              <a:rPr sz="940" b="0">
                <a:solidFill>
                  <a:srgbClr val="14212B"/>
                </a:solidFill>
                <a:latin typeface="Arial"/>
              </a:rPr>
              <a:t>≤250 MB per metro region for the routing graph, the precomputed curvature lookup and the DEM. No connectivity in the runtime path.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40" b="1">
                <a:solidFill>
                  <a:srgbClr val="14375F"/>
                </a:solidFill>
                <a:latin typeface="Arial"/>
              </a:rPr>
              <a:t>Nothing to buy or install.   </a:t>
            </a:r>
            <a:r>
              <a:rPr sz="940" b="0">
                <a:solidFill>
                  <a:srgbClr val="14212B"/>
                </a:solidFill>
                <a:latin typeface="Arial"/>
              </a:rPr>
              <a:t>No OBD-II dongle, no wheel encoder, no UWB, leaky-feeder or 5G roadside build-out — it runs on the phone already on the dashboard.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84048" y="4517136"/>
            <a:ext cx="3584448" cy="12618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4562856"/>
            <a:ext cx="3584448" cy="1170432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Capability tiers — declared at runtime, never hidden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40" b="1">
                <a:solidFill>
                  <a:srgbClr val="1B8A4C"/>
                </a:solidFill>
                <a:latin typeface="Consolas"/>
              </a:rPr>
              <a:t>A</a:t>
            </a:r>
            <a:r>
              <a:rPr sz="880" b="1">
                <a:solidFill>
                  <a:srgbClr val="14212B"/>
                </a:solidFill>
                <a:latin typeface="Arial"/>
              </a:rPr>
              <a:t>   ≥200 Hz IMU</a:t>
            </a:r>
            <a:r>
              <a:rPr sz="860" b="0">
                <a:solidFill>
                  <a:srgbClr val="5B6E78"/>
                </a:solidFill>
                <a:latin typeface="Arial"/>
              </a:rPr>
              <a:t>   full spectral odometer   </a:t>
            </a:r>
            <a:r>
              <a:rPr sz="900" b="1">
                <a:solidFill>
                  <a:srgbClr val="1B8A4C"/>
                </a:solidFill>
                <a:latin typeface="Consolas"/>
              </a:rPr>
              <a:t>0.5–1 %/km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40" b="1">
                <a:solidFill>
                  <a:srgbClr val="0C6DB5"/>
                </a:solidFill>
                <a:latin typeface="Consolas"/>
              </a:rPr>
              <a:t>B</a:t>
            </a:r>
            <a:r>
              <a:rPr sz="880" b="1">
                <a:solidFill>
                  <a:srgbClr val="14212B"/>
                </a:solidFill>
                <a:latin typeface="Arial"/>
              </a:rPr>
              <a:t>   50–200 Hz</a:t>
            </a:r>
            <a:r>
              <a:rPr sz="860" b="0">
                <a:solidFill>
                  <a:srgbClr val="5B6E78"/>
                </a:solidFill>
                <a:latin typeface="Arial"/>
              </a:rPr>
              <a:t>   axle orders 1–4 only   </a:t>
            </a:r>
            <a:r>
              <a:rPr sz="900" b="1">
                <a:solidFill>
                  <a:srgbClr val="0C6DB5"/>
                </a:solidFill>
                <a:latin typeface="Consolas"/>
              </a:rPr>
              <a:t>1–2 %/km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40" b="1">
                <a:solidFill>
                  <a:srgbClr val="E8761F"/>
                </a:solidFill>
                <a:latin typeface="Consolas"/>
              </a:rPr>
              <a:t>C</a:t>
            </a:r>
            <a:r>
              <a:rPr sz="880" b="1">
                <a:solidFill>
                  <a:srgbClr val="14212B"/>
                </a:solidFill>
                <a:latin typeface="Arial"/>
              </a:rPr>
              <a:t>   10–50 Hz</a:t>
            </a:r>
            <a:r>
              <a:rPr sz="860" b="0">
                <a:solidFill>
                  <a:srgbClr val="5B6E78"/>
                </a:solidFill>
                <a:latin typeface="Arial"/>
              </a:rPr>
              <a:t>   no spectral odometer   </a:t>
            </a:r>
            <a:r>
              <a:rPr sz="900" b="1">
                <a:solidFill>
                  <a:srgbClr val="E8761F"/>
                </a:solidFill>
                <a:latin typeface="Consolas"/>
              </a:rPr>
              <a:t>2–3 %/km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840" b="0">
                <a:solidFill>
                  <a:srgbClr val="5B6E78"/>
                </a:solidFill>
                <a:latin typeface="Arial"/>
              </a:rPr>
              <a:t>IO-VNBD's smartphone stream is 10 Hz, so every result we report on it is Tier C with the spectral odometer switched off.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4224528" y="1170432"/>
          <a:ext cx="7580376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841248"/>
                <a:gridCol w="4178808"/>
              </a:tblGrid>
              <a:tr h="640080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64008" marR="64008" marT="45720" marB="45720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64008" marR="64008" marT="45720" marB="45720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64008" marR="64008" marT="45720" marB="45720" anchor="ctr">
                    <a:solidFill>
                      <a:srgbClr val="1437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CSA is ambiguous on featureless or badly-mapped roads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B3261E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Landmark saliency scoring, top-k path hypotheses in the particle filter, honest σ from the Gauss–Newton Hessian. Fallback: classical HMM map matching, still inside the gate.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Axle harmonics too weak — smooth road, quiet EV, soft mount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Mount-quality gate disables SVO when the mechanical path is decoupled; summation over 8+ orders; learned σ down-weights it automatically. Fallback: Tier B, gate still met.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IO-VNBD's phone stream is 10 Hz, so it cannot validate SVO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0C6DB5"/>
                          </a:solidFill>
                          <a:latin typeface="Arial"/>
                        </a:rPr>
                        <a:t>Known limit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Declared as capability tiers rather than hidden. IO-VNBD results are reported as Tier C with SVO off; SVO is validated on self-collected 400 Hz logs from week 2.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No two-wheeler data in IO-VNBD — four cars, no Indian roads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0C6DB5"/>
                          </a:solidFill>
                          <a:latin typeface="Arial"/>
                        </a:rPr>
                        <a:t>Known limit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The lean relation is imposed as a physics loss rather than learned, so few samples are needed; a dedicated two-wheeler collection covers both mount types.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Phone sensor rate throttled below 200 Hz on some devices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Tier detected at runtime from the achieved rate; SensorDirectChannel where available; verified across high, mid and low device classes.</a:t>
                      </a:r>
                    </a:p>
                  </a:txBody>
                  <a:tcPr marL="64008" marR="64008" marT="45720" marB="45720" anchor="ctr">
                    <a:solidFill>
                      <a:srgbClr val="F3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375F"/>
                          </a:solidFill>
                          <a:latin typeface="Arial"/>
                        </a:rPr>
                        <a:t>Uneven OpenStreetMap geometry on Indian roads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4212B"/>
                          </a:solidFill>
                          <a:latin typeface="Arial"/>
                        </a:rPr>
                        <a:t>Cross-track covariance scaled by an OSM confidence heuristic, an explicit off-road particle so a missing road cannot force a wrong match, and a provider adapter.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46177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4617720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4617720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Quick-commerce and delivery riders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the marker keeps moving through underpasses and basement parking, so the next turn is announced before the exit, not after it.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Logistics and fleet operators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mileage through tunnels and yards stops being guesswork; ETA and proof of delivery survive GNSS gaps, with no dongle to fit or maintain.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Ride-hailing drivers and riders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no frozen or teleporting car in an urban canyon, and pickup points that resolve to the right side of the road.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Emergency responders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ambulance and fire crews keep a live position inside tunnels, metro underpasses and multi-level structures, exactly where dispatch loses them today.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Two-wheeler riders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the largest vehicle class on Indian roads gets a lean-aware solution instead of one built for cars, and less time spent looking at a stalled screen.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Defence and critical logistics   </a:t>
            </a:r>
            <a:r>
              <a:rPr sz="960" b="0">
                <a:solidFill>
                  <a:srgbClr val="14212B"/>
                </a:solidFill>
                <a:latin typeface="Arial"/>
              </a:rPr>
              <a:t>— a wholly self-contained position that degrades gracefully under jamming or spoofing instead of failing.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84048" y="4133087"/>
            <a:ext cx="4617720" cy="18836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4178807"/>
            <a:ext cx="4617720" cy="1792224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Where it matters most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Long tunnels and metro underpasses   </a:t>
            </a:r>
            <a:r>
              <a:rPr sz="919" b="0">
                <a:solidFill>
                  <a:srgbClr val="14212B"/>
                </a:solidFill>
                <a:latin typeface="Arial"/>
              </a:rPr>
              <a:t>— GNSS is absent, and the road is topologically one-dimensional, so the map does most of the work.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Multi-level parking   </a:t>
            </a:r>
            <a:r>
              <a:rPr sz="919" b="0">
                <a:solidFill>
                  <a:srgbClr val="14212B"/>
                </a:solidFill>
                <a:latin typeface="Arial"/>
              </a:rPr>
              <a:t>— the helical ramp is a uniquely-shaped signature and the barometer resolves the floor to within one level.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Dense urban canyons   </a:t>
            </a:r>
            <a:r>
              <a:rPr sz="919" b="0">
                <a:solidFill>
                  <a:srgbClr val="14212B"/>
                </a:solidFill>
                <a:latin typeface="Arial"/>
              </a:rPr>
              <a:t>— position is unusable but Doppler velocity survives on three or four satellites, where others discard everything.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19" b="1">
                <a:solidFill>
                  <a:srgbClr val="14375F"/>
                </a:solidFill>
                <a:latin typeface="Arial"/>
              </a:rPr>
              <a:t>Forested and valley highways   </a:t>
            </a:r>
            <a:r>
              <a:rPr sz="919" b="0">
                <a:solidFill>
                  <a:srgbClr val="14212B"/>
                </a:solidFill>
                <a:latin typeface="Arial"/>
              </a:rPr>
              <a:t>— partial, intermittent GNSS, which the trust ramp absorbs without ever switching mode.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321808" y="1170432"/>
            <a:ext cx="6483096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Benefits of the solution (social, economic, environmental, etc.)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321808" y="1435608"/>
            <a:ext cx="6483096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ectangle 17416"/>
          <p:cNvSpPr/>
          <p:nvPr/>
        </p:nvSpPr>
        <p:spPr>
          <a:xfrm>
            <a:off x="5321808" y="1554480"/>
            <a:ext cx="3140964" cy="148132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5321808" y="1600200"/>
            <a:ext cx="3140964" cy="1389888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B8A4C"/>
                </a:solidFill>
                <a:latin typeface="Arial"/>
              </a:rPr>
              <a:t>Social</a:t>
            </a:r>
          </a:p>
          <a:p>
            <a:pPr>
              <a:lnSpc>
                <a:spcPct val="104000"/>
              </a:lnSpc>
            </a:pPr>
            <a:r>
              <a:rPr sz="900" b="0">
                <a:solidFill>
                  <a:srgbClr val="14212B"/>
                </a:solidFill>
                <a:latin typeface="Arial"/>
              </a:rPr>
              <a:t>Safer riding: a correct instruction on time means fewer glances at the screen at the moment a rider can least afford one. Emergency crews stay locatable underground. Accurate navigation stops being a feature of expensive cars and becomes a property of any phone on any dashboard.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8663940" y="1554480"/>
            <a:ext cx="3140964" cy="148132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663940" y="1600200"/>
            <a:ext cx="3140964" cy="1389888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C6DB5"/>
                </a:solidFill>
                <a:latin typeface="Arial"/>
              </a:rPr>
              <a:t>Economic</a:t>
            </a:r>
          </a:p>
          <a:p>
            <a:pPr>
              <a:lnSpc>
                <a:spcPct val="104000"/>
              </a:lnSpc>
            </a:pPr>
            <a:r>
              <a:rPr sz="900" b="0">
                <a:solidFill>
                  <a:srgbClr val="14212B"/>
                </a:solidFill>
                <a:latin typeface="Arial"/>
              </a:rPr>
              <a:t>Zero marginal hardware — it runs on phones riders already own. No OBD dongle per vehicle, no factory-fitted INS, no UWB or leaky-feeder installation per tunnel. Fewer missed exits, re-routes and failed delivery attempts per shift, on the same fleet.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5321808" y="3182112"/>
            <a:ext cx="3140964" cy="148132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5321808" y="3227832"/>
            <a:ext cx="3140964" cy="1389888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8761F"/>
                </a:solidFill>
                <a:latin typeface="Arial"/>
              </a:rPr>
              <a:t>Environmental</a:t>
            </a:r>
          </a:p>
          <a:p>
            <a:pPr>
              <a:lnSpc>
                <a:spcPct val="104000"/>
              </a:lnSpc>
            </a:pPr>
            <a:r>
              <a:rPr sz="900" b="0">
                <a:solidFill>
                  <a:srgbClr val="14212B"/>
                </a:solidFill>
                <a:latin typeface="Arial"/>
              </a:rPr>
              <a:t>A missed exit is wasted kilometres, wasted fuel and avoidable emissions; removing the cause removes all three. And because the solution is entirely on-device, no roadside infrastructure has to be manufactured, powered or maintained.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8663940" y="3182112"/>
            <a:ext cx="3140964" cy="148132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663940" y="3227832"/>
            <a:ext cx="3140964" cy="1389888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Strategic</a:t>
            </a:r>
          </a:p>
          <a:p>
            <a:pPr>
              <a:lnSpc>
                <a:spcPct val="104000"/>
              </a:lnSpc>
            </a:pPr>
            <a:r>
              <a:rPr sz="900" b="0">
                <a:solidFill>
                  <a:srgbClr val="14212B"/>
                </a:solidFill>
                <a:latin typeface="Arial"/>
              </a:rPr>
              <a:t>Resilient to jamming and spoofing by construction, since every SETU channel is self-contained. Uses NavIC L5 where Indian devices expose it, runs fully offline, and keeps trajectory data on the phone rather than in a cloud.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5321808" y="4864608"/>
            <a:ext cx="2063495" cy="987552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321808" y="4901184"/>
            <a:ext cx="2063495" cy="914400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60" b="1">
                <a:solidFill>
                  <a:srgbClr val="5B6E78"/>
                </a:solidFill>
                <a:latin typeface="Arial"/>
              </a:rPr>
              <a:t>Pure inertial, 60 s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2100" b="1">
                <a:solidFill>
                  <a:srgbClr val="B3261E"/>
                </a:solidFill>
                <a:latin typeface="Arial"/>
              </a:rPr>
              <a:t>180 m</a:t>
            </a:r>
          </a:p>
          <a:p>
            <a:pPr>
              <a:lnSpc>
                <a:spcPct val="102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½·b·t² with a 0.1 m/s² bias — the marker is a block away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7531608" y="4864608"/>
            <a:ext cx="2063495" cy="987552"/>
          </a:xfrm>
          <a:prstGeom prst="rect">
            <a:avLst/>
          </a:prstGeom>
          <a:solidFill>
            <a:srgbClr val="FFFFFF"/>
          </a:solidFill>
          <a:ln w="1397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531608" y="4901184"/>
            <a:ext cx="2063495" cy="914400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60" b="1">
                <a:solidFill>
                  <a:srgbClr val="5B6E78"/>
                </a:solidFill>
                <a:latin typeface="Arial"/>
              </a:rPr>
              <a:t>Best published smartphone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2100" b="1">
                <a:solidFill>
                  <a:srgbClr val="E8761F"/>
                </a:solidFill>
                <a:latin typeface="Arial"/>
              </a:rPr>
              <a:t>31 m</a:t>
            </a:r>
          </a:p>
          <a:p>
            <a:pPr>
              <a:lnSpc>
                <a:spcPct val="102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3.1 % of distance per km, INS + NHC in a real tunnel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9741408" y="4864608"/>
            <a:ext cx="2063495" cy="987552"/>
          </a:xfrm>
          <a:prstGeom prst="rect">
            <a:avLst/>
          </a:prstGeom>
          <a:solidFill>
            <a:srgbClr val="FFFFFF"/>
          </a:solidFill>
          <a:ln w="1397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9741408" y="4901184"/>
            <a:ext cx="2063495" cy="914400"/>
          </a:xfrm>
          <a:prstGeom prst="rect">
            <a:avLst/>
          </a:prstGeom>
          <a:noFill/>
        </p:spPr>
        <p:txBody>
          <a:bodyPr wrap="square" lIns="82296" rIns="82296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60" b="1">
                <a:solidFill>
                  <a:srgbClr val="5B6E78"/>
                </a:solidFill>
                <a:latin typeface="Arial"/>
              </a:rPr>
              <a:t>SETU design target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2100" b="1">
                <a:solidFill>
                  <a:srgbClr val="1B8A4C"/>
                </a:solidFill>
                <a:latin typeface="Arial"/>
              </a:rPr>
              <a:t>8–15 m</a:t>
            </a:r>
          </a:p>
          <a:p>
            <a:pPr>
              <a:lnSpc>
                <a:spcPct val="102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0.8–1.5 % per km, anchored to the map and to the field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321808" y="5907024"/>
            <a:ext cx="6483096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819" b="0">
                <a:solidFill>
                  <a:srgbClr val="5B6E78"/>
                </a:solidFill>
                <a:latin typeface="Arial"/>
              </a:rPr>
              <a:t>Horizontal drift over a 1 km GNSS blackout at 60 km/h. The SIH ceiling is 10 % of distance travelled — 100 m.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Details / Links of the reference and research work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778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627632"/>
            <a:ext cx="3672840" cy="4370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DATASET AND BENCHMARK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IO-VNBD: Inertial &amp; Odometry Benchmark Dataset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Onyekpe, Palade, Kanarachos, Szkolnik · Data in Brief 35:106885, 2021 · github.com/onyekpeu/IO-VNBD · arXiv:2005.01701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WhONet: Wheel Odometry Neural Network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Eng. Applications of AI, 2021 · arXiv:2104.02581 — our privileged upper bound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R-WhONet: recalibration via transfer learning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arXiv:2209.05877 — evidence for cross-vehicle domain shift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LEARNED INERTIAL ODOMETRY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Deep Learning for Inertial Positioning: A Survey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Chen &amp; Pan · IEEE T-ITS, 2024 · arXiv:2303.03757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Inertial Navigation Meets Deep Learning — a survey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Cohen &amp; Klein · 2024 · arXiv:2307.00014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AI-IMU Dead-Reckoning — invariant EKF, learned noise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Brossard, Barrau &amp; Bonnabel · IEEE T-IV, 2020 · arXiv:1904.06064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TLIO: Tight Learned Inertial Odometry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Liu et al. · IEEE RA-L, 2020 · arXiv:2007.01867 — learned covariance into a filter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OdoNet: untethered speed aiding, no odometer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arXiv:2109.03091 · 68 % error reduction over NHC alone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CarSpeedNet: accelerometer-only speed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arXiv:2401.07468 · &lt;0.72 m/s ≈ 4.3 % — the accuracy to beat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PiDR: Physics-Informed Inertial Dead Reckoning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Sahoo &amp; Klein · 2026 · arXiv:2601.03040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258056" y="1627632"/>
            <a:ext cx="3672840" cy="4370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LEARNED AND ADAPTIVE FUSION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KalmanNet: neural-network-aided Kalman filtering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Revach, Shlezinger, van Sloun &amp; Eldar · IEEE TSP, 2022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A-KIT: Adaptive Kalman-Informed Transformer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Cohen &amp; Klein · arXiv:2401.09987 · github.com/ansfl/A-KIT — learned process noise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Differentiable particle filters, semi-supervised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arXiv:2011.05748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MAP MATCHING AND KINEMATIC CONSTRAINTS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Hidden Markov Map Matching Through Noise and Sparseness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Newson &amp; Krumm · ACM SIGSPATIAL, 2009 — the map-matching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Heading–length sequence matching for localisation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arXiv:2005.13704 — nearest prior art to CSA; assumes a known speed source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Map-aided dead reckoning from OBD speed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arXiv:1611.07910 — map-aided DR with a known odometer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Lever-arm accuracy of the non-holonomic constraint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Zhang &amp; Hu · IEEE TVT, 2020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NHC-assisted GNSS/SINS with motion-state CNN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GPS Solutions, 2023 · doi 10.1007/s10291-023-01483-9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32063" y="1627632"/>
            <a:ext cx="3672840" cy="43708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SPECTRAL SPEED AND FIELD ANCHORS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Vehicle Speed Tracking Using Chassis Vibrations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Linköping University, 2016 — axle-order tracking; motivates tunnel navigation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Accelerometer-based wheel odometer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Sensors, 2021 · PMC7918720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Magnetic field vehicle positioning in a long tunnel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Applied Sciences 11(24):11641, 2021 · doi 10.3390/app112411641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Vehicle positioning in tunnel environments: a review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Complex &amp; Intelligent Systems, 2025 · doi 10.1007/s40747-024-01744-1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Barometric floor detection on smartphones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Sensors, 2015 · PMC4431287 — basis for the parking-level anchor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919" b="1">
                <a:solidFill>
                  <a:srgbClr val="0C6DB5"/>
                </a:solidFill>
                <a:latin typeface="Arial"/>
              </a:rPr>
              <a:t>GNSS INTEGRITY AND 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Vehicle positioning in underground space using a smartphone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ISPRS Archives XLVI-3/W1, 2022 — the 3.1 %/km INS+NHC tunnel reference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GNSS multipath detection using machine learning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Hsu · IEEE ITSC, 2017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Android GnssMeasurement HAL — raw GNSS observables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source.android.com/reference/hal/struct_gnss_measurement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4212B"/>
                </a:solidFill>
                <a:latin typeface="Arial"/>
              </a:rPr>
              <a:t>u-blox Untethered Dead Reckoning (UDR)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5B6E78"/>
                </a:solidFill>
                <a:latin typeface="Arial"/>
              </a:rPr>
              <a:t>u-blox.com/en/technologies/udr-untethered-dead-reckoning — commercial reference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84048" y="6035040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84048" y="6062472"/>
            <a:ext cx="11420856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</a:pPr>
            <a:r>
              <a:rPr sz="819" b="0">
                <a:solidFill>
                  <a:srgbClr val="5B6E78"/>
                </a:solidFill>
                <a:latin typeface="Arial"/>
              </a:rPr>
              <a:t>A 66-entry annotated bibliography, with a prior-art positioning table for each of the five mechanisms, is maintained alongside the implementation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